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a1ae8644d744ef" /><Relationship Type="http://schemas.openxmlformats.org/officeDocument/2006/relationships/extended-properties" Target="/docProps/app.xml" Id="R5aa6027a32d3484d" /><Relationship Type="http://schemas.openxmlformats.org/officeDocument/2006/relationships/officeDocument" Target="/ppt/presentation.xml" Id="R34093c8642fd4530" /></Relationships>
</file>

<file path=ppt/presentation.xml><?xml version="1.0" encoding="utf-8"?>
<p:presentation xmlns:p="http://schemas.openxmlformats.org/presentationml/2006/main">
  <p:sldMasterIdLst>
    <p:sldMasterId xmlns:r="http://schemas.openxmlformats.org/officeDocument/2006/relationships" id="2147483648" r:id="R6199a2f459d84203"/>
  </p:sldMasterIdLst>
  <p:notesMasterIdLst>
    <p:notesMasterId xmlns:r="http://schemas.openxmlformats.org/officeDocument/2006/relationships" r:id="Re89928692e4b4000"/>
  </p:notesMasterIdLst>
  <p:sldIdLst>
    <p:sldId xmlns:r="http://schemas.openxmlformats.org/officeDocument/2006/relationships" id="256" r:id="R4de5516fe4ae4e1c"/>
    <p:sldId xmlns:r="http://schemas.openxmlformats.org/officeDocument/2006/relationships" id="257" r:id="R09341f3c4f7241d6"/>
    <p:sldId xmlns:r="http://schemas.openxmlformats.org/officeDocument/2006/relationships" id="258" r:id="Rcea93906d58a4546"/>
    <p:sldId xmlns:r="http://schemas.openxmlformats.org/officeDocument/2006/relationships" id="259" r:id="Rcf1671d694ef4d55"/>
    <p:sldId xmlns:r="http://schemas.openxmlformats.org/officeDocument/2006/relationships" id="260" r:id="Ra01f4e019d8d4e0f"/>
    <p:sldId xmlns:r="http://schemas.openxmlformats.org/officeDocument/2006/relationships" id="261" r:id="R64a31089fa214478"/>
    <p:sldId xmlns:r="http://schemas.openxmlformats.org/officeDocument/2006/relationships" id="262" r:id="Rd2022421cf5e480b"/>
    <p:sldId xmlns:r="http://schemas.openxmlformats.org/officeDocument/2006/relationships" id="263" r:id="Rbb01b295b37245b7"/>
    <p:sldId xmlns:r="http://schemas.openxmlformats.org/officeDocument/2006/relationships" id="264" r:id="R822025d6481148c0"/>
    <p:sldId xmlns:r="http://schemas.openxmlformats.org/officeDocument/2006/relationships" id="265" r:id="Rc6ec923a7a8c47f1"/>
    <p:sldId xmlns:r="http://schemas.openxmlformats.org/officeDocument/2006/relationships" id="266" r:id="Rccff93ebdc694e2e"/>
    <p:sldId xmlns:r="http://schemas.openxmlformats.org/officeDocument/2006/relationships" id="267" r:id="R5089d863146c4206"/>
    <p:sldId xmlns:r="http://schemas.openxmlformats.org/officeDocument/2006/relationships" id="268" r:id="Rd2c7499d33b148f2"/>
    <p:sldId xmlns:r="http://schemas.openxmlformats.org/officeDocument/2006/relationships" id="269" r:id="R855243314636478b"/>
    <p:sldId xmlns:r="http://schemas.openxmlformats.org/officeDocument/2006/relationships" id="270" r:id="R17762a4b5a384dd4"/>
    <p:sldId xmlns:r="http://schemas.openxmlformats.org/officeDocument/2006/relationships" id="271" r:id="R52f2eee3fa8a49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f78b02a19d49a3" /><Relationship Type="http://schemas.openxmlformats.org/officeDocument/2006/relationships/slideMaster" Target="/ppt/slideMasters/slideMaster1.xml" Id="R6199a2f459d84203" /><Relationship Type="http://schemas.openxmlformats.org/officeDocument/2006/relationships/notesMaster" Target="/ppt/notesMasters/notesMaster1.xml" Id="Re89928692e4b4000" /><Relationship Type="http://schemas.openxmlformats.org/officeDocument/2006/relationships/presProps" Target="/ppt/presProps.xml" Id="Rd4c6adc7117f4e44" /><Relationship Type="http://schemas.openxmlformats.org/officeDocument/2006/relationships/tableStyles" Target="/ppt/tableStyles.xml" Id="Rc22efe28a72a41f7" /><Relationship Type="http://schemas.openxmlformats.org/officeDocument/2006/relationships/slide" Target="/ppt/slides/slide1.xml" Id="R4de5516fe4ae4e1c" /><Relationship Type="http://schemas.openxmlformats.org/officeDocument/2006/relationships/slide" Target="/ppt/slides/slide2.xml" Id="R09341f3c4f7241d6" /><Relationship Type="http://schemas.openxmlformats.org/officeDocument/2006/relationships/slide" Target="/ppt/slides/slide3.xml" Id="Rcea93906d58a4546" /><Relationship Type="http://schemas.openxmlformats.org/officeDocument/2006/relationships/slide" Target="/ppt/slides/slide4.xml" Id="Rcf1671d694ef4d55" /><Relationship Type="http://schemas.openxmlformats.org/officeDocument/2006/relationships/slide" Target="/ppt/slides/slide5.xml" Id="Ra01f4e019d8d4e0f" /><Relationship Type="http://schemas.openxmlformats.org/officeDocument/2006/relationships/slide" Target="/ppt/slides/slide6.xml" Id="R64a31089fa214478" /><Relationship Type="http://schemas.openxmlformats.org/officeDocument/2006/relationships/slide" Target="/ppt/slides/slide7.xml" Id="Rd2022421cf5e480b" /><Relationship Type="http://schemas.openxmlformats.org/officeDocument/2006/relationships/slide" Target="/ppt/slides/slide8.xml" Id="Rbb01b295b37245b7" /><Relationship Type="http://schemas.openxmlformats.org/officeDocument/2006/relationships/slide" Target="/ppt/slides/slide9.xml" Id="R822025d6481148c0" /><Relationship Type="http://schemas.openxmlformats.org/officeDocument/2006/relationships/slide" Target="/ppt/slides/slide10.xml" Id="Rc6ec923a7a8c47f1" /><Relationship Type="http://schemas.openxmlformats.org/officeDocument/2006/relationships/slide" Target="/ppt/slides/slide11.xml" Id="Rccff93ebdc694e2e" /><Relationship Type="http://schemas.openxmlformats.org/officeDocument/2006/relationships/slide" Target="/ppt/slides/slide12.xml" Id="R5089d863146c4206" /><Relationship Type="http://schemas.openxmlformats.org/officeDocument/2006/relationships/slide" Target="/ppt/slides/slide13.xml" Id="Rd2c7499d33b148f2" /><Relationship Type="http://schemas.openxmlformats.org/officeDocument/2006/relationships/slide" Target="/ppt/slides/slide14.xml" Id="R855243314636478b" /><Relationship Type="http://schemas.openxmlformats.org/officeDocument/2006/relationships/slide" Target="/ppt/slides/slide15.xml" Id="R17762a4b5a384dd4" /><Relationship Type="http://schemas.openxmlformats.org/officeDocument/2006/relationships/slide" Target="/ppt/slides/slide16.xml" Id="R52f2eee3fa8a49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afe2159521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08d3bfb92452f" /><Relationship Type="http://schemas.openxmlformats.org/officeDocument/2006/relationships/notesMaster" Target="/ppt/notesMasters/notesMaster1.xml" Id="Rd5679603476348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2e22ed1c9649c8" /><Relationship Type="http://schemas.openxmlformats.org/officeDocument/2006/relationships/notesMaster" Target="/ppt/notesMasters/notesMaster1.xml" Id="Rd8f2551851ec49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d8988831b141b5" /><Relationship Type="http://schemas.openxmlformats.org/officeDocument/2006/relationships/notesMaster" Target="/ppt/notesMasters/notesMaster1.xml" Id="R6b4ed44a59a54e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c68b5bbbfb4f3a" /><Relationship Type="http://schemas.openxmlformats.org/officeDocument/2006/relationships/notesMaster" Target="/ppt/notesMasters/notesMaster1.xml" Id="R8d4a677e8ae042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d22586e1d24077" /><Relationship Type="http://schemas.openxmlformats.org/officeDocument/2006/relationships/notesMaster" Target="/ppt/notesMasters/notesMaster1.xml" Id="R664abd3dc51344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d1788ad65468f" /><Relationship Type="http://schemas.openxmlformats.org/officeDocument/2006/relationships/notesMaster" Target="/ppt/notesMasters/notesMaster1.xml" Id="Rfb6b4721f52645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7a8f5ae22443f9" /><Relationship Type="http://schemas.openxmlformats.org/officeDocument/2006/relationships/notesMaster" Target="/ppt/notesMasters/notesMaster1.xml" Id="R7d0ada0f178f42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5e06722b594680" /><Relationship Type="http://schemas.openxmlformats.org/officeDocument/2006/relationships/notesMaster" Target="/ppt/notesMasters/notesMaster1.xml" Id="Rd36473484d124a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65444b045f4162" /><Relationship Type="http://schemas.openxmlformats.org/officeDocument/2006/relationships/notesMaster" Target="/ppt/notesMasters/notesMaster1.xml" Id="R30a4444841564a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45c31bc81149f5" /><Relationship Type="http://schemas.openxmlformats.org/officeDocument/2006/relationships/notesMaster" Target="/ppt/notesMasters/notesMaster1.xml" Id="R3f357e1aad4b49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1aa394792c141a6" /><Relationship Type="http://schemas.openxmlformats.org/officeDocument/2006/relationships/notesMaster" Target="/ppt/notesMasters/notesMaster1.xml" Id="R81d33a18e83546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58bc873c974184" /><Relationship Type="http://schemas.openxmlformats.org/officeDocument/2006/relationships/notesMaster" Target="/ppt/notesMasters/notesMaster1.xml" Id="Rd081b61f4b034f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033dc549b54468" /><Relationship Type="http://schemas.openxmlformats.org/officeDocument/2006/relationships/notesMaster" Target="/ppt/notesMasters/notesMaster1.xml" Id="R19481e38fa9644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129a1e465846d7" /><Relationship Type="http://schemas.openxmlformats.org/officeDocument/2006/relationships/notesMaster" Target="/ppt/notesMasters/notesMaster1.xml" Id="Rd3022182e3f84f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6e8b8753b643c3" /><Relationship Type="http://schemas.openxmlformats.org/officeDocument/2006/relationships/notesMaster" Target="/ppt/notesMasters/notesMaster1.xml" Id="R27b7a011c14941e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b104b88adb34eca" /><Relationship Type="http://schemas.openxmlformats.org/officeDocument/2006/relationships/notesMaster" Target="/ppt/notesMasters/notesMaster1.xml" Id="R479064e45a274a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Red, black and white theme requested by user. No Red Hat logo or affiliation claim. Background generated with ImageGen, details in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Timing from initial user task 2026-09-09 13:44:56.287 UTC to final development counter at 17:39:58.478 UTC. v0.1.0 commit 16:08:54 UTC. Optimization request 16:09:19.427 UTC, v0.1.1 commit 17:39:35 UTC. 23 commits after spec-only b7a6727, before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session cumulative token event at 2026-09-09 17:39:58.478 UTC. input_tokens 10342460, cached_input_tokens 10152320, output_tokens 68266, reasoning_output_tokens 12425, total_tokens 10410726. New input = input minus cached input = 190140. Reasoning output is part of reported output and is not added again. Includes reused context, tools and side questions, not an isolated coding invoice. Raw logs and session identifiers are intentionally not distributed.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Incomplete input is retriable without consuming the incomplete protocol item. ZRLE maintains one zlib stream across rectangles. Tile decoding is internal TRLE, encoding 15 is not advertised. Hextile preflights framing before allocating full rectangle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Policy and reproduction commands in CLAUDE.md and docs/VALIDATION.md. Main suite: sh tools/validate.sh. Builds use /build/cargo/stormrfb. External noVNC and Playwright dependencies live outside the private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QEMU 10.1.5: QMP screendump gives independent pixels. TigerVNC 1.15.0: XGetImage gives independent pixels. Same recorded RFB updates replayed by stormrfb and unmodified noVNC 1.7.0 with in-memory display adapter. Both updates checked per fixture. QEMU hash 06133f0cfae0b305. TigerVNC hash 091a3de23b92f334.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25 Rust tests, 2 Node tests. Fuzz initial 4332048 / 46 s, deep compressed tiles 434699 / 46 s, optimized 421801 / 45 s budget. Total 5188548 executions across three smoke runs. Peak RSS 377 MB deep and 370 MB optimized. No crash observed. Smoke fuzzing is not a security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v0.1.0 first measurement: native 0.563 ms/frame, WASM 1.270, noVNC 0.914. QEMU 720x400 static firmware, two updates, 902 bytes/frame. 20 warmups, 200 sessions / 400 frames. Session setup included, no network or canvas paint. Native number is not a browser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Native perf cpu-clock at 999 Hz, 250 samples: Vec::extend_with 22.4%, user page faults 22.8% mostly fills, replay including framebuffer work 13.6%, Framebuffer::new 12%. Sampling is supporting evidence, not a WASM profile. Optimization 1c43752, opt-level=s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Each round: 20 warmup sessions, 200 measured sessions / 400 frames. Same QEMU firmware capture and host. Baseline WASM 1.319 total / 0.078 setup / 1.241 decode. Optimized 0.361 / 0.071 / 0.290. noVNC 0.967 / 0.040 / 0.928. Columns independently medianed. WASM includes JS input copy and event construction. noVNC has in-memory display. Neither includes network or paint.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Size numbers from docs/PERFORMANCE.md. Gzip is the sum of independently compressed files. Historical noVNC 182 KB production chunk is not a like-for-like build. TigerVNC timing is a secondary correctness workload, not a desktop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docs/DESIGN.md, docs/VALIDATION.md and docs/PERFORMANCE.md at private release v0.1.1 (ea3ced1), 9 September 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db92bb176848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0d367abb144f2c" /><Relationship Type="http://schemas.openxmlformats.org/officeDocument/2006/relationships/slideLayout" Target="/ppt/slideLayouts/slideLayout1.xml" Id="Rd882851d776947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82851d776947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665c9b8e874ca1" /><Relationship Type="http://schemas.openxmlformats.org/officeDocument/2006/relationships/image" Target="/ppt/media/image.png" Id="R68c2684b32194cd9" /><Relationship Type="http://schemas.openxmlformats.org/officeDocument/2006/relationships/notesSlide" Target="/ppt/notesSlides/notesSlide1.xml" Id="Rf32886c5fe364f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bb7864653f423f" /><Relationship Type="http://schemas.openxmlformats.org/officeDocument/2006/relationships/notesSlide" Target="/ppt/notesSlides/notesSlide2.xml" Id="Re3e78e696ef241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a3481c8d9f44e6" /><Relationship Type="http://schemas.openxmlformats.org/officeDocument/2006/relationships/notesSlide" Target="/ppt/notesSlides/notesSlide3.xml" Id="R10f5dc6ae13944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28b1ce5847844ab" /><Relationship Type="http://schemas.openxmlformats.org/officeDocument/2006/relationships/notesSlide" Target="/ppt/notesSlides/notesSlide4.xml" Id="Rf11d84ad8e77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f0e04b9de1425c" /><Relationship Type="http://schemas.openxmlformats.org/officeDocument/2006/relationships/notesSlide" Target="/ppt/notesSlides/notesSlide5.xml" Id="Ra709ff9673e348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dcfe67ab0448b3" /><Relationship Type="http://schemas.openxmlformats.org/officeDocument/2006/relationships/notesSlide" Target="/ppt/notesSlides/notesSlide6.xml" Id="Rbebb3d745c7b41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af63c1108d4818" /><Relationship Type="http://schemas.openxmlformats.org/officeDocument/2006/relationships/notesSlide" Target="/ppt/notesSlides/notesSlide7.xml" Id="Ra58780d79b4740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20d6bb5bc24eb7" /><Relationship Type="http://schemas.openxmlformats.org/officeDocument/2006/relationships/notesSlide" Target="/ppt/notesSlides/notesSlide8.xml" Id="Rf0b786a0a5c04a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f901028d714cea" /><Relationship Type="http://schemas.openxmlformats.org/officeDocument/2006/relationships/notesSlide" Target="/ppt/notesSlides/notesSlide9.xml" Id="Re039ad9bef7541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e397aab7a444ef" /><Relationship Type="http://schemas.openxmlformats.org/officeDocument/2006/relationships/notesSlide" Target="/ppt/notesSlides/notesSlide10.xml" Id="R3954c72ccb9641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44e1e254474676" /><Relationship Type="http://schemas.openxmlformats.org/officeDocument/2006/relationships/notesSlide" Target="/ppt/notesSlides/notesSlide11.xml" Id="R7fa337c3db974c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b29ac7a522471f" /><Relationship Type="http://schemas.openxmlformats.org/officeDocument/2006/relationships/chart" Target="/ppt/slides/charts/chart1.xml" Id="Rc74638316f0d4ed6" /><Relationship Type="http://schemas.openxmlformats.org/officeDocument/2006/relationships/notesSlide" Target="/ppt/notesSlides/notesSlide12.xml" Id="R23767db6e8a24c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b2cb6b6a0644e4" /><Relationship Type="http://schemas.openxmlformats.org/officeDocument/2006/relationships/notesSlide" Target="/ppt/notesSlides/notesSlide13.xml" Id="R37d24428d2cb49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49b31284344e17" /><Relationship Type="http://schemas.openxmlformats.org/officeDocument/2006/relationships/chart" Target="/ppt/slides/charts/chart2.xml" Id="R0b0dec7a4ba64ec3" /><Relationship Type="http://schemas.openxmlformats.org/officeDocument/2006/relationships/notesSlide" Target="/ppt/notesSlides/notesSlide14.xml" Id="R5b77cb17c2a145f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283ecfee5b4c18" /><Relationship Type="http://schemas.openxmlformats.org/officeDocument/2006/relationships/notesSlide" Target="/ppt/notesSlides/notesSlide15.xml" Id="Red325095657044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728cb64e6547be" /><Relationship Type="http://schemas.openxmlformats.org/officeDocument/2006/relationships/notesSlide" Target="/ppt/notesSlides/notesSlide16.xml" Id="R92058788c1b84f8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Milliseconds per frame</c:v>
          </c:tx>
          <c:spPr>
            <a:solidFill xmlns:a="http://schemas.openxmlformats.org/drawingml/2006/main">
              <a:srgbClr val="EE0000"/>
            </a:solidFill>
          </c:spPr>
          <c:dPt>
            <c:idx val="0"/>
            <c:invertIfNegative val="0"/>
            <c:spPr>
              <a:solidFill xmlns:a="http://schemas.openxmlformats.org/drawingml/2006/main">
                <a:srgbClr val="777777"/>
              </a:solidFill>
            </c:spPr>
          </c:dPt>
          <c:dPt>
            <c:idx val="1"/>
            <c:invertIfNegative val="0"/>
            <c:spPr>
              <a:solidFill xmlns:a="http://schemas.openxmlformats.org/drawingml/2006/main">
                <a:srgbClr val="151515"/>
              </a:solidFill>
            </c:spPr>
          </c:dPt>
          <c:dPt>
            <c:idx val="2"/>
            <c:invertIfNegative val="0"/>
            <c:spPr>
              <a:solidFill xmlns:a="http://schemas.openxmlformats.org/drawingml/2006/main">
                <a:srgbClr val="EE0000"/>
              </a:solidFill>
            </c:spPr>
          </c:dPt>
          <c:cat>
            <c:strRef>
              <c:f>'Chart Data'!$A$2:$A$4</c:f>
              <c:strCache>
                <c:ptCount val="3"/>
                <c:pt idx="0">
                  <c:v>Native Rust</c:v>
                </c:pt>
                <c:pt idx="1">
                  <c:v>WASM in Node</c:v>
                </c:pt>
                <c:pt idx="2">
                  <c:v>noVNC in Node</c:v>
                </c:pt>
              </c:strCache>
            </c:strRef>
          </c:cat>
          <c:val>
            <c:numRef>
              <c:f>'Chart Data'!$B$2:$B$4</c:f>
              <c:numCache>
                <c:formatCode>0.000</c:formatCode>
                <c:ptCount val="3"/>
                <c:pt idx="0">
                  <c:v>0.563</c:v>
                </c:pt>
                <c:pt idx="1">
                  <c:v>1.27</c:v>
                </c:pt>
                <c:pt idx="2">
                  <c:v>0.914</c:v>
                </c:pt>
              </c:numCache>
            </c:numRef>
          </c:val>
        </c:ser>
        <c:dLbls>
          <c:txPr>
            <a:bodyPr xmlns:a="http://schemas.openxmlformats.org/drawingml/2006/main" anchorCtr="1"/>
            <a:lstStyle xmlns:a="http://schemas.openxmlformats.org/drawingml/2006/main"/>
            <a:p xmlns:a="http://schemas.openxmlformats.org/drawingml/2006/main">
              <a:pPr>
                <a:defRPr sz="2025">
                  <a:solidFill>
                    <a:srgbClr val="15151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1515"/>
                </a:solidFill>
                <a:latin typeface="Helvetica Neue"/>
                <a:ea typeface="Helvetica Neue"/>
                <a:cs typeface="Helvetica Neue"/>
              </a:defRPr>
            </a:pPr>
          </a:p>
        </c:txPr>
        <c:crossAx val="48672768"/>
      </c:catAx>
      <c:valAx>
        <c:axId val="48672768"/>
        <c:scaling>
          <c:orientation val="minMax"/>
          <c:max val="1.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55555"/>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Milliseconds per frame</c:v>
          </c:tx>
          <c:spPr>
            <a:solidFill xmlns:a="http://schemas.openxmlformats.org/drawingml/2006/main">
              <a:srgbClr val="EE0000"/>
            </a:solidFill>
          </c:spPr>
          <c:dPt>
            <c:idx val="0"/>
            <c:invertIfNegative val="0"/>
            <c:spPr>
              <a:solidFill xmlns:a="http://schemas.openxmlformats.org/drawingml/2006/main">
                <a:srgbClr val="777777"/>
              </a:solidFill>
            </c:spPr>
          </c:dPt>
          <c:dPt>
            <c:idx val="1"/>
            <c:invertIfNegative val="0"/>
            <c:spPr>
              <a:solidFill xmlns:a="http://schemas.openxmlformats.org/drawingml/2006/main">
                <a:srgbClr val="151515"/>
              </a:solidFill>
            </c:spPr>
          </c:dPt>
          <c:dPt>
            <c:idx val="2"/>
            <c:invertIfNegative val="0"/>
            <c:spPr>
              <a:solidFill xmlns:a="http://schemas.openxmlformats.org/drawingml/2006/main">
                <a:srgbClr val="EE0000"/>
              </a:solidFill>
            </c:spPr>
          </c:dPt>
          <c:cat>
            <c:strRef>
              <c:f>'Chart Data'!$A$2:$A$4</c:f>
              <c:strCache>
                <c:ptCount val="3"/>
                <c:pt idx="0">
                  <c:v>v0.1.0 WASM</c:v>
                </c:pt>
                <c:pt idx="1">
                  <c:v>noVNC comparison</c:v>
                </c:pt>
                <c:pt idx="2">
                  <c:v>Optimized WASM</c:v>
                </c:pt>
              </c:strCache>
            </c:strRef>
          </c:cat>
          <c:val>
            <c:numRef>
              <c:f>'Chart Data'!$B$2:$B$4</c:f>
              <c:numCache>
                <c:formatCode>0.000</c:formatCode>
                <c:ptCount val="3"/>
                <c:pt idx="0">
                  <c:v>1.319</c:v>
                </c:pt>
                <c:pt idx="1">
                  <c:v>0.967</c:v>
                </c:pt>
                <c:pt idx="2">
                  <c:v>0.361</c:v>
                </c:pt>
              </c:numCache>
            </c:numRef>
          </c:val>
        </c:ser>
        <c:dLbls>
          <c:txPr>
            <a:bodyPr xmlns:a="http://schemas.openxmlformats.org/drawingml/2006/main" anchorCtr="1"/>
            <a:lstStyle xmlns:a="http://schemas.openxmlformats.org/drawingml/2006/main"/>
            <a:p xmlns:a="http://schemas.openxmlformats.org/drawingml/2006/main">
              <a:pPr>
                <a:defRPr sz="2025">
                  <a:solidFill>
                    <a:srgbClr val="151515"/>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1515"/>
                </a:solidFill>
                <a:latin typeface="Helvetica Neue"/>
                <a:ea typeface="Helvetica Neue"/>
                <a:cs typeface="Helvetica Neue"/>
              </a:defRPr>
            </a:pPr>
          </a:p>
        </c:txPr>
        <c:crossAx val="48672768"/>
      </c:catAx>
      <c:valAx>
        <c:axId val="48672768"/>
        <c:scaling>
          <c:orientation val="minMax"/>
          <c:max val="1.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55555"/>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8c2684b32194cd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38DEB7-EF77-4011-89A8-AD878C505907}"/>
              </a:ext>
            </a:extLst>
          </p:cNvPr>
          <p:cNvSpPr>
            <a:spLocks xmlns:a="http://schemas.openxmlformats.org/drawingml/2006/main" noGrp="1"/>
          </p:cNvSpPr>
          <p:nvPr/>
        </p:nvSpPr>
        <p:spPr>
          <a:xfrm xmlns:a="http://schemas.openxmlformats.org/drawingml/2006/main">
            <a:off x="609600" y="8572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STORMRFB</a:t>
            </a:r>
          </a:p>
        </p:txBody>
      </p:sp>
      <p:sp>
        <p:nvSpPr>
          <p:cNvPr id="3" name="">
            <a:extLst xmlns:a="http://schemas.openxmlformats.org/drawingml/2006/main">
              <a:ext uri="{FF2B5EF4-FFF2-40B4-BE49-F238E27FC236}">
                <a16:creationId xmlns:a16="http://schemas.microsoft.com/office/drawing/2014/main" id="{35B1C1EF-A876-4841-B102-FA2AB4595FBD}"/>
              </a:ext>
            </a:extLst>
          </p:cNvPr>
          <p:cNvSpPr>
            <a:spLocks xmlns:a="http://schemas.openxmlformats.org/drawingml/2006/main" noGrp="1"/>
          </p:cNvSpPr>
          <p:nvPr/>
        </p:nvSpPr>
        <p:spPr>
          <a:xfrm xmlns:a="http://schemas.openxmlformats.org/drawingml/2006/main">
            <a:off x="609600" y="2190750"/>
            <a:ext cx="685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One RFB core.</a:t>
            </a:r>
          </a:p>
          <a:p xmlns:a="http://schemas.openxmlformats.org/drawingml/2006/main">
            <a:pPr>
              <a:defRPr sz="2925" b="0">
                <a:solidFill>
                  <a:srgbClr val="FFFFFF"/>
                </a:solidFill>
                <a:latin typeface="Helvetica Neue"/>
                <a:ea typeface="Helvetica Neue"/>
                <a:cs typeface="Helvetica Neue"/>
              </a:defRPr>
            </a:pPr>
            <a:r>
              <a:rPr sz="2925" b="0">
                <a:solidFill>
                  <a:srgbClr val="FFFFFF"/>
                </a:solidFill>
                <a:latin typeface="Helvetica Neue"/>
                <a:ea typeface="Helvetica Neue"/>
                <a:cs typeface="Helvetica Neue"/>
              </a:rPr>
              <a:t>Browser client and VMM server.</a:t>
            </a:r>
          </a:p>
        </p:txBody>
      </p:sp>
      <p:sp>
        <p:nvSpPr>
          <p:cNvPr id="4" name="">
            <a:extLst xmlns:a="http://schemas.openxmlformats.org/drawingml/2006/main">
              <a:ext uri="{FF2B5EF4-FFF2-40B4-BE49-F238E27FC236}">
                <a16:creationId xmlns:a16="http://schemas.microsoft.com/office/drawing/2014/main" id="{11976298-0240-4DF0-B156-184A1C4EFB64}"/>
              </a:ext>
            </a:extLst>
          </p:cNvPr>
          <p:cNvSpPr>
            <a:spLocks xmlns:a="http://schemas.openxmlformats.org/drawingml/2006/main" noGrp="1"/>
          </p:cNvSpPr>
          <p:nvPr/>
        </p:nvSpPr>
        <p:spPr>
          <a:xfrm xmlns:a="http://schemas.openxmlformats.org/drawingml/2006/main">
            <a:off x="609600" y="4333875"/>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DDDDD"/>
                </a:solidFill>
                <a:latin typeface="Helvetica Neue"/>
                <a:ea typeface="Helvetica Neue"/>
                <a:cs typeface="Helvetica Neue"/>
              </a:defRPr>
            </a:pPr>
            <a:r>
              <a:rPr sz="2100" b="0">
                <a:solidFill>
                  <a:srgbClr val="DDDDDD"/>
                </a:solidFill>
                <a:latin typeface="Helvetica Neue"/>
                <a:ea typeface="Helvetica Neue"/>
                <a:cs typeface="Helvetica Neue"/>
              </a:rPr>
              <a:t>Build, verification and performance</a:t>
            </a:r>
          </a:p>
        </p:txBody>
      </p:sp>
      <p:sp>
        <p:nvSpPr>
          <p:cNvPr id="5" name="">
            <a:extLst xmlns:a="http://schemas.openxmlformats.org/drawingml/2006/main">
              <a:ext uri="{FF2B5EF4-FFF2-40B4-BE49-F238E27FC236}">
                <a16:creationId xmlns:a16="http://schemas.microsoft.com/office/drawing/2014/main" id="{F248D47B-F733-4C2E-BACC-87215DA646BA}"/>
              </a:ext>
            </a:extLst>
          </p:cNvPr>
          <p:cNvSpPr>
            <a:spLocks xmlns:a="http://schemas.openxmlformats.org/drawingml/2006/main" noGrp="1"/>
          </p:cNvSpPr>
          <p:nvPr/>
        </p:nvSpPr>
        <p:spPr>
          <a:xfrm xmlns:a="http://schemas.openxmlformats.org/drawingml/2006/main">
            <a:off x="609600" y="6019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CCCCC"/>
                </a:solidFill>
                <a:latin typeface="Helvetica Neue"/>
                <a:ea typeface="Helvetica Neue"/>
                <a:cs typeface="Helvetica Neue"/>
              </a:defRPr>
            </a:pPr>
            <a:r>
              <a:rPr sz="1575" b="0">
                <a:solidFill>
                  <a:srgbClr val="CCCCCC"/>
                </a:solidFill>
                <a:latin typeface="Helvetica Neue"/>
                <a:ea typeface="Helvetica Neue"/>
                <a:cs typeface="Helvetica Neue"/>
              </a:rPr>
              <a:t>Private v0.1.1  /  9 September 2026</a:t>
            </a:r>
          </a:p>
        </p:txBody>
      </p:sp>
    </p:spTree>
    <p:extLst>
      <p:ext uri="{BB962C8B-B14F-4D97-AF65-F5344CB8AC3E}">
        <p14:creationId xmlns:p14="http://schemas.microsoft.com/office/powerpoint/2010/main" val="1984825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798B39-5EF0-4CBC-89B8-753697A1AB08}"/>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6CDD1171-BC22-4578-B68B-DC7875920EF8}"/>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The server requirement drives the project</a:t>
            </a:r>
          </a:p>
        </p:txBody>
      </p:sp>
      <p:sp>
        <p:nvSpPr>
          <p:cNvPr id="3" name="">
            <a:extLst xmlns:a="http://schemas.openxmlformats.org/drawingml/2006/main">
              <a:ext uri="{FF2B5EF4-FFF2-40B4-BE49-F238E27FC236}">
                <a16:creationId xmlns:a16="http://schemas.microsoft.com/office/drawing/2014/main" id="{FC34935A-B924-4ABB-821D-E3CE4479432F}"/>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A shared Rust protocol core supports both ends of a VM console.</a:t>
            </a:r>
          </a:p>
        </p:txBody>
      </p:sp>
      <p:sp>
        <p:nvSpPr>
          <p:cNvPr id="4" name="">
            <a:extLst xmlns:a="http://schemas.openxmlformats.org/drawingml/2006/main">
              <a:ext uri="{FF2B5EF4-FFF2-40B4-BE49-F238E27FC236}">
                <a16:creationId xmlns:a16="http://schemas.microsoft.com/office/drawing/2014/main" id="{3EE1768B-9176-41A1-A1E4-505733E7F94D}"/>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FAC51AAD-1C35-4163-91CD-589F6682A656}"/>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A35BB9C-7679-4C34-85CC-52B7D54E311B}"/>
              </a:ext>
            </a:extLst>
          </p:cNvPr>
          <p:cNvSpPr>
            <a:spLocks xmlns:a="http://schemas.openxmlformats.org/drawingml/2006/main" noGrp="1"/>
          </p:cNvSpPr>
          <p:nvPr/>
        </p:nvSpPr>
        <p:spPr>
          <a:xfrm xmlns:a="http://schemas.openxmlformats.org/drawingml/2006/main">
            <a:off x="609600" y="2505075"/>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E0000"/>
                </a:solidFill>
                <a:latin typeface="Helvetica Neue"/>
                <a:ea typeface="Helvetica Neue"/>
                <a:cs typeface="Helvetica Neue"/>
              </a:defRPr>
            </a:pPr>
            <a:r>
              <a:rPr sz="2700" b="1">
                <a:solidFill>
                  <a:srgbClr val="EE0000"/>
                </a:solidFill>
                <a:latin typeface="Helvetica Neue"/>
                <a:ea typeface="Helvetica Neue"/>
                <a:cs typeface="Helvetica Neue"/>
              </a:rPr>
              <a:t>stormvm needs an RFB server</a:t>
            </a:r>
          </a:p>
        </p:txBody>
      </p:sp>
      <p:sp>
        <p:nvSpPr>
          <p:cNvPr id="7" name="">
            <a:extLst xmlns:a="http://schemas.openxmlformats.org/drawingml/2006/main">
              <a:ext uri="{FF2B5EF4-FFF2-40B4-BE49-F238E27FC236}">
                <a16:creationId xmlns:a16="http://schemas.microsoft.com/office/drawing/2014/main" id="{0E87A60A-901A-492C-BA1E-A54AA5A1FFAF}"/>
              </a:ext>
            </a:extLst>
          </p:cNvPr>
          <p:cNvSpPr>
            <a:spLocks xmlns:a="http://schemas.openxmlformats.org/drawingml/2006/main" noGrp="1"/>
          </p:cNvSpPr>
          <p:nvPr/>
        </p:nvSpPr>
        <p:spPr>
          <a:xfrm xmlns:a="http://schemas.openxmlformats.org/drawingml/2006/main">
            <a:off x="609600" y="32194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1515"/>
                </a:solidFill>
                <a:latin typeface="Helvetica Neue"/>
                <a:ea typeface="Helvetica Neue"/>
                <a:cs typeface="Helvetica Neue"/>
              </a:defRPr>
            </a:pPr>
            <a:r>
              <a:rPr sz="2175" b="0">
                <a:solidFill>
                  <a:srgbClr val="151515"/>
                </a:solidFill>
                <a:latin typeface="Helvetica Neue"/>
                <a:ea typeface="Helvetica Neue"/>
                <a:cs typeface="Helvetica Neue"/>
              </a:rPr>
              <a:t>Encode a VMM framebuffer and receive guest input.</a:t>
            </a:r>
          </a:p>
          <a:p xmlns:a="http://schemas.openxmlformats.org/drawingml/2006/main">
            <a:pPr>
              <a:defRPr sz="2175" b="0">
                <a:solidFill>
                  <a:srgbClr val="151515"/>
                </a:solidFill>
                <a:latin typeface="Helvetica Neue"/>
                <a:ea typeface="Helvetica Neue"/>
                <a:cs typeface="Helvetica Neue"/>
              </a:defRPr>
            </a:pPr>
            <a:r>
              <a:rPr sz="2175" b="0">
                <a:solidFill>
                  <a:srgbClr val="151515"/>
                </a:solidFill>
                <a:latin typeface="Helvetica Neue"/>
                <a:ea typeface="Helvetica Neue"/>
                <a:cs typeface="Helvetica Neue"/>
              </a:rPr>
              <a:t>The virtio-gpu and vhost-user integration belongs to stormvm.</a:t>
            </a:r>
          </a:p>
        </p:txBody>
      </p:sp>
      <p:sp>
        <p:nvSpPr>
          <p:cNvPr id="8" name="">
            <a:extLst xmlns:a="http://schemas.openxmlformats.org/drawingml/2006/main">
              <a:ext uri="{FF2B5EF4-FFF2-40B4-BE49-F238E27FC236}">
                <a16:creationId xmlns:a16="http://schemas.microsoft.com/office/drawing/2014/main" id="{A379163E-1ABC-4796-BF36-85A865AD11FF}"/>
              </a:ext>
            </a:extLst>
          </p:cNvPr>
          <p:cNvSpPr>
            <a:spLocks xmlns:a="http://schemas.openxmlformats.org/drawingml/2006/main" noGrp="1"/>
          </p:cNvSpPr>
          <p:nvPr/>
        </p:nvSpPr>
        <p:spPr>
          <a:xfrm xmlns:a="http://schemas.openxmlformats.org/drawingml/2006/main">
            <a:off x="609600" y="45720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1515"/>
                </a:solidFill>
                <a:latin typeface="Helvetica Neue"/>
                <a:ea typeface="Helvetica Neue"/>
                <a:cs typeface="Helvetica Neue"/>
              </a:defRPr>
            </a:pPr>
            <a:r>
              <a:rPr sz="2700" b="1">
                <a:solidFill>
                  <a:srgbClr val="151515"/>
                </a:solidFill>
                <a:latin typeface="Helvetica Neue"/>
                <a:ea typeface="Helvetica Neue"/>
                <a:cs typeface="Helvetica Neue"/>
              </a:rPr>
              <a:t>stormconsole can reuse the same core</a:t>
            </a:r>
          </a:p>
        </p:txBody>
      </p:sp>
      <p:sp>
        <p:nvSpPr>
          <p:cNvPr id="9" name="">
            <a:extLst xmlns:a="http://schemas.openxmlformats.org/drawingml/2006/main">
              <a:ext uri="{FF2B5EF4-FFF2-40B4-BE49-F238E27FC236}">
                <a16:creationId xmlns:a16="http://schemas.microsoft.com/office/drawing/2014/main" id="{AFC1A25B-19AC-40B1-B3C1-3A391A12BAF1}"/>
              </a:ext>
            </a:extLst>
          </p:cNvPr>
          <p:cNvSpPr>
            <a:spLocks xmlns:a="http://schemas.openxmlformats.org/drawingml/2006/main" noGrp="1"/>
          </p:cNvSpPr>
          <p:nvPr/>
        </p:nvSpPr>
        <p:spPr>
          <a:xfrm xmlns:a="http://schemas.openxmlformats.org/drawingml/2006/main">
            <a:off x="609600" y="524827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A WASM client is implemented. Deployment waits for real Windows and Linux</a:t>
            </a:r>
          </a:p>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guests through the existing relay. noVNC remains deployed.</a:t>
            </a:r>
          </a:p>
        </p:txBody>
      </p:sp>
    </p:spTree>
    <p:extLst>
      <p:ext uri="{BB962C8B-B14F-4D97-AF65-F5344CB8AC3E}">
        <p14:creationId xmlns:p14="http://schemas.microsoft.com/office/powerpoint/2010/main" val="8852681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E6D4FB-8C28-420F-A481-499016DC6628}"/>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B6F78AB5-AC93-4168-80F1-D6687F186B24}"/>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Architecture and ownership</a:t>
            </a:r>
          </a:p>
        </p:txBody>
      </p:sp>
      <p:sp>
        <p:nvSpPr>
          <p:cNvPr id="3" name="">
            <a:extLst xmlns:a="http://schemas.openxmlformats.org/drawingml/2006/main">
              <a:ext uri="{FF2B5EF4-FFF2-40B4-BE49-F238E27FC236}">
                <a16:creationId xmlns:a16="http://schemas.microsoft.com/office/drawing/2014/main" id="{B213E3CF-68B2-4654-810C-8683C5E9D751}"/>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The codec consumes bytes and emits events. It owns no sockets or platform types.</a:t>
            </a:r>
          </a:p>
        </p:txBody>
      </p:sp>
      <p:sp>
        <p:nvSpPr>
          <p:cNvPr id="4" name="">
            <a:extLst xmlns:a="http://schemas.openxmlformats.org/drawingml/2006/main">
              <a:ext uri="{FF2B5EF4-FFF2-40B4-BE49-F238E27FC236}">
                <a16:creationId xmlns:a16="http://schemas.microsoft.com/office/drawing/2014/main" id="{5D377832-7D10-4D42-B0F7-91CE94757AA5}"/>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A2565B2D-523E-40BC-B688-8A48ACA8B8ED}"/>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29E4BAD5-B3B6-4386-B4A3-EBA84183FD30}"/>
              </a:ext>
            </a:extLst>
          </p:cNvPr>
          <p:cNvSpPr>
            <a:spLocks xmlns:a="http://schemas.openxmlformats.org/drawingml/2006/main" noGrp="1"/>
          </p:cNvSpPr>
          <p:nvPr/>
        </p:nvSpPr>
        <p:spPr>
          <a:xfrm xmlns:a="http://schemas.openxmlformats.org/drawingml/2006/main">
            <a:off x="4286250" y="2571750"/>
            <a:ext cx="3571875" cy="1095375"/>
          </a:xfrm>
          <a:prstGeom xmlns:a="http://schemas.openxmlformats.org/drawingml/2006/main" prst="rect">
            <a:avLst/>
          </a:prstGeom>
          <a:solidFill xmlns:a="http://schemas.openxmlformats.org/drawingml/2006/main">
            <a:srgbClr val="EE0000"/>
          </a:solidFill>
          <a:ln xmlns:a="http://schemas.openxmlformats.org/drawingml/2006/main" w="9525">
            <a:solidFill>
              <a:srgbClr val="EE0000"/>
            </a:solidFill>
          </a:ln>
        </p:spPr>
      </p:sp>
      <p:sp>
        <p:nvSpPr>
          <p:cNvPr id="7" name="">
            <a:extLst xmlns:a="http://schemas.openxmlformats.org/drawingml/2006/main">
              <a:ext uri="{FF2B5EF4-FFF2-40B4-BE49-F238E27FC236}">
                <a16:creationId xmlns:a16="http://schemas.microsoft.com/office/drawing/2014/main" id="{A668FEA0-F312-405D-93B6-7DCA6B2AB122}"/>
              </a:ext>
            </a:extLst>
          </p:cNvPr>
          <p:cNvSpPr>
            <a:spLocks xmlns:a="http://schemas.openxmlformats.org/drawingml/2006/main" noGrp="1"/>
          </p:cNvSpPr>
          <p:nvPr/>
        </p:nvSpPr>
        <p:spPr>
          <a:xfrm xmlns:a="http://schemas.openxmlformats.org/drawingml/2006/main">
            <a:off x="4457700" y="2714625"/>
            <a:ext cx="32289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stormrfb</a:t>
            </a:r>
          </a:p>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Bounded wire codec</a:t>
            </a:r>
          </a:p>
        </p:txBody>
      </p:sp>
      <p:sp>
        <p:nvSpPr>
          <p:cNvPr id="8" name="">
            <a:extLst xmlns:a="http://schemas.openxmlformats.org/drawingml/2006/main">
              <a:ext uri="{FF2B5EF4-FFF2-40B4-BE49-F238E27FC236}">
                <a16:creationId xmlns:a16="http://schemas.microsoft.com/office/drawing/2014/main" id="{88FB0D05-C2D4-4361-8B6C-3AC9710982E9}"/>
              </a:ext>
            </a:extLst>
          </p:cNvPr>
          <p:cNvSpPr>
            <a:spLocks xmlns:a="http://schemas.openxmlformats.org/drawingml/2006/main" noGrp="1"/>
          </p:cNvSpPr>
          <p:nvPr/>
        </p:nvSpPr>
        <p:spPr>
          <a:xfrm xmlns:a="http://schemas.openxmlformats.org/drawingml/2006/main">
            <a:off x="666750" y="4191000"/>
            <a:ext cx="3190875" cy="106680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9" name="">
            <a:extLst xmlns:a="http://schemas.openxmlformats.org/drawingml/2006/main">
              <a:ext uri="{FF2B5EF4-FFF2-40B4-BE49-F238E27FC236}">
                <a16:creationId xmlns:a16="http://schemas.microsoft.com/office/drawing/2014/main" id="{631FB907-69BF-4A64-987C-07EF7757C59E}"/>
              </a:ext>
            </a:extLst>
          </p:cNvPr>
          <p:cNvSpPr>
            <a:spLocks xmlns:a="http://schemas.openxmlformats.org/drawingml/2006/main" noGrp="1"/>
          </p:cNvSpPr>
          <p:nvPr/>
        </p:nvSpPr>
        <p:spPr>
          <a:xfrm xmlns:a="http://schemas.openxmlformats.org/drawingml/2006/main">
            <a:off x="838200" y="4333875"/>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stormrfb-client</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RGBA and damage</a:t>
            </a:r>
          </a:p>
        </p:txBody>
      </p:sp>
      <p:sp>
        <p:nvSpPr>
          <p:cNvPr id="10" name="">
            <a:extLst xmlns:a="http://schemas.openxmlformats.org/drawingml/2006/main">
              <a:ext uri="{FF2B5EF4-FFF2-40B4-BE49-F238E27FC236}">
                <a16:creationId xmlns:a16="http://schemas.microsoft.com/office/drawing/2014/main" id="{C9991A21-4F5A-4DDA-9051-00C4422576E3}"/>
              </a:ext>
            </a:extLst>
          </p:cNvPr>
          <p:cNvSpPr>
            <a:spLocks xmlns:a="http://schemas.openxmlformats.org/drawingml/2006/main" noGrp="1"/>
          </p:cNvSpPr>
          <p:nvPr/>
        </p:nvSpPr>
        <p:spPr>
          <a:xfrm xmlns:a="http://schemas.openxmlformats.org/drawingml/2006/main">
            <a:off x="8334375" y="4191000"/>
            <a:ext cx="3190875" cy="106680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1" name="">
            <a:extLst xmlns:a="http://schemas.openxmlformats.org/drawingml/2006/main">
              <a:ext uri="{FF2B5EF4-FFF2-40B4-BE49-F238E27FC236}">
                <a16:creationId xmlns:a16="http://schemas.microsoft.com/office/drawing/2014/main" id="{EF0DC33B-9D6A-41DF-8574-E32E8649405D}"/>
              </a:ext>
            </a:extLst>
          </p:cNvPr>
          <p:cNvSpPr>
            <a:spLocks xmlns:a="http://schemas.openxmlformats.org/drawingml/2006/main" noGrp="1"/>
          </p:cNvSpPr>
          <p:nvPr/>
        </p:nvSpPr>
        <p:spPr>
          <a:xfrm xmlns:a="http://schemas.openxmlformats.org/drawingml/2006/main">
            <a:off x="8505825" y="4333875"/>
            <a:ext cx="28479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stormrfb-server</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Sessions and updates</a:t>
            </a:r>
          </a:p>
        </p:txBody>
      </p:sp>
      <p:sp>
        <p:nvSpPr>
          <p:cNvPr id="12" name="">
            <a:extLst xmlns:a="http://schemas.openxmlformats.org/drawingml/2006/main">
              <a:ext uri="{FF2B5EF4-FFF2-40B4-BE49-F238E27FC236}">
                <a16:creationId xmlns:a16="http://schemas.microsoft.com/office/drawing/2014/main" id="{E066F158-3F13-4128-A2F8-676E5E682C3F}"/>
              </a:ext>
            </a:extLst>
          </p:cNvPr>
          <p:cNvSpPr>
            <a:spLocks xmlns:a="http://schemas.openxmlformats.org/drawingml/2006/main" noGrp="1"/>
          </p:cNvSpPr>
          <p:nvPr/>
        </p:nvSpPr>
        <p:spPr>
          <a:xfrm xmlns:a="http://schemas.openxmlformats.org/drawingml/2006/main">
            <a:off x="4286250" y="4905375"/>
            <a:ext cx="3571875"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3" name="">
            <a:extLst xmlns:a="http://schemas.openxmlformats.org/drawingml/2006/main">
              <a:ext uri="{FF2B5EF4-FFF2-40B4-BE49-F238E27FC236}">
                <a16:creationId xmlns:a16="http://schemas.microsoft.com/office/drawing/2014/main" id="{BECA7C55-F8AE-4565-8AA0-923C620CBF65}"/>
              </a:ext>
            </a:extLst>
          </p:cNvPr>
          <p:cNvSpPr>
            <a:spLocks xmlns:a="http://schemas.openxmlformats.org/drawingml/2006/main" noGrp="1"/>
          </p:cNvSpPr>
          <p:nvPr/>
        </p:nvSpPr>
        <p:spPr>
          <a:xfrm xmlns:a="http://schemas.openxmlformats.org/drawingml/2006/main">
            <a:off x="4457700" y="5048250"/>
            <a:ext cx="32289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stormrfb-wasm + web</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Canvas and DOM input</a:t>
            </a:r>
          </a:p>
        </p:txBody>
      </p:sp>
      <p:cxnSp>
        <p:nvCxnSpPr>
          <p:cNvPr id="32" name=""/>
          <p:cNvCxnSpPr>
            <a:stCxn xmlns:a="http://schemas.openxmlformats.org/drawingml/2006/main" id="6" idx="1"/>
            <a:endCxn xmlns:a="http://schemas.openxmlformats.org/drawingml/2006/main" id="8" idx="0"/>
          </p:cNvCxnSpPr>
          <p:nvPr/>
        </p:nvCxnSpPr>
        <p:spPr>
          <a:xfrm xmlns:a="http://schemas.openxmlformats.org/drawingml/2006/main" flipH="1">
            <a:off x="2262188" y="3119438"/>
            <a:ext cx="2024063" cy="1071563"/>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3" name=""/>
          <p:cNvCxnSpPr>
            <a:stCxn xmlns:a="http://schemas.openxmlformats.org/drawingml/2006/main" id="6" idx="3"/>
            <a:endCxn xmlns:a="http://schemas.openxmlformats.org/drawingml/2006/main" id="10" idx="0"/>
          </p:cNvCxnSpPr>
          <p:nvPr/>
        </p:nvCxnSpPr>
        <p:spPr>
          <a:xfrm xmlns:a="http://schemas.openxmlformats.org/drawingml/2006/main">
            <a:off x="7858125" y="3119438"/>
            <a:ext cx="2071688" cy="1071563"/>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4" name=""/>
          <p:cNvCxnSpPr>
            <a:stCxn xmlns:a="http://schemas.openxmlformats.org/drawingml/2006/main" id="8" idx="3"/>
            <a:endCxn xmlns:a="http://schemas.openxmlformats.org/drawingml/2006/main" id="12" idx="1"/>
          </p:cNvCxnSpPr>
          <p:nvPr/>
        </p:nvCxnSpPr>
        <p:spPr>
          <a:xfrm xmlns:a="http://schemas.openxmlformats.org/drawingml/2006/main">
            <a:off x="3857625" y="4724400"/>
            <a:ext cx="428625" cy="704850"/>
          </a:xfrm>
          <a:prstGeom xmlns:a="http://schemas.openxmlformats.org/drawingml/2006/main" prst="straightConnector1">
            <a:avLst/>
          </a:prstGeom>
          <a:ln xmlns:a="http://schemas.openxmlformats.org/drawingml/2006/main" w="28575">
            <a:solidFill>
              <a:srgbClr val="EE0000"/>
            </a:solidFill>
            <a:tailEnd type="triangle" w="med" len="med"/>
          </a:ln>
        </p:spPr>
      </p:cxnSp>
      <p:sp>
        <p:nvSpPr>
          <p:cNvPr id="17" name="">
            <a:extLst xmlns:a="http://schemas.openxmlformats.org/drawingml/2006/main">
              <a:ext uri="{FF2B5EF4-FFF2-40B4-BE49-F238E27FC236}">
                <a16:creationId xmlns:a16="http://schemas.microsoft.com/office/drawing/2014/main" id="{83DCA526-BC8B-49DF-BE11-5FDF0C1440C2}"/>
              </a:ext>
            </a:extLst>
          </p:cNvPr>
          <p:cNvSpPr>
            <a:spLocks xmlns:a="http://schemas.openxmlformats.org/drawingml/2006/main" noGrp="1"/>
          </p:cNvSpPr>
          <p:nvPr/>
        </p:nvSpPr>
        <p:spPr>
          <a:xfrm xmlns:a="http://schemas.openxmlformats.org/drawingml/2006/main">
            <a:off x="609600" y="5667375"/>
            <a:ext cx="342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5555"/>
                </a:solidFill>
                <a:latin typeface="Helvetica Neue"/>
                <a:ea typeface="Helvetica Neue"/>
                <a:cs typeface="Helvetica Neue"/>
              </a:defRPr>
            </a:pPr>
            <a:r>
              <a:rPr sz="1575" b="0">
                <a:solidFill>
                  <a:srgbClr val="555555"/>
                </a:solidFill>
                <a:latin typeface="Helvetica Neue"/>
                <a:ea typeface="Helvetica Neue"/>
                <a:cs typeface="Helvetica Neue"/>
              </a:rPr>
              <a:t>Native harness also uses the client</a:t>
            </a:r>
          </a:p>
        </p:txBody>
      </p:sp>
      <p:sp>
        <p:nvSpPr>
          <p:cNvPr id="18" name="">
            <a:extLst xmlns:a="http://schemas.openxmlformats.org/drawingml/2006/main">
              <a:ext uri="{FF2B5EF4-FFF2-40B4-BE49-F238E27FC236}">
                <a16:creationId xmlns:a16="http://schemas.microsoft.com/office/drawing/2014/main" id="{CB4524A3-3194-45A8-9673-4ACF5DBA3770}"/>
              </a:ext>
            </a:extLst>
          </p:cNvPr>
          <p:cNvSpPr>
            <a:spLocks xmlns:a="http://schemas.openxmlformats.org/drawingml/2006/main" noGrp="1"/>
          </p:cNvSpPr>
          <p:nvPr/>
        </p:nvSpPr>
        <p:spPr>
          <a:xfrm xmlns:a="http://schemas.openxmlformats.org/drawingml/2006/main">
            <a:off x="8429625" y="557212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5555"/>
                </a:solidFill>
                <a:latin typeface="Helvetica Neue"/>
                <a:ea typeface="Helvetica Neue"/>
                <a:cs typeface="Helvetica Neue"/>
              </a:defRPr>
            </a:pPr>
            <a:r>
              <a:rPr sz="1575" b="0">
                <a:solidFill>
                  <a:srgbClr val="555555"/>
                </a:solidFill>
                <a:latin typeface="Helvetica Neue"/>
                <a:ea typeface="Helvetica Neue"/>
                <a:cs typeface="Helvetica Neue"/>
              </a:rPr>
              <a:t>stormvm supplies framebuffer</a:t>
            </a:r>
          </a:p>
          <a:p xmlns:a="http://schemas.openxmlformats.org/drawingml/2006/main">
            <a:pPr>
              <a:defRPr sz="1575" b="0">
                <a:solidFill>
                  <a:srgbClr val="555555"/>
                </a:solidFill>
                <a:latin typeface="Helvetica Neue"/>
                <a:ea typeface="Helvetica Neue"/>
                <a:cs typeface="Helvetica Neue"/>
              </a:defRPr>
            </a:pPr>
            <a:r>
              <a:rPr sz="1575" b="0">
                <a:solidFill>
                  <a:srgbClr val="555555"/>
                </a:solidFill>
                <a:latin typeface="Helvetica Neue"/>
                <a:ea typeface="Helvetica Neue"/>
                <a:cs typeface="Helvetica Neue"/>
              </a:rPr>
              <a:t>and transport integration</a:t>
            </a:r>
          </a:p>
        </p:txBody>
      </p:sp>
    </p:spTree>
    <p:extLst>
      <p:ext uri="{BB962C8B-B14F-4D97-AF65-F5344CB8AC3E}">
        <p14:creationId xmlns:p14="http://schemas.microsoft.com/office/powerpoint/2010/main" val="16819443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DD14C5-A09D-43A6-BF5E-00BB42FE2BB8}"/>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76EE9E73-CBB5-4DDC-953D-4AD7598AA7FC}"/>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Delivery took 3 hours 55 minutes</a:t>
            </a:r>
          </a:p>
        </p:txBody>
      </p:sp>
      <p:sp>
        <p:nvSpPr>
          <p:cNvPr id="3" name="">
            <a:extLst xmlns:a="http://schemas.openxmlformats.org/drawingml/2006/main">
              <a:ext uri="{FF2B5EF4-FFF2-40B4-BE49-F238E27FC236}">
                <a16:creationId xmlns:a16="http://schemas.microsoft.com/office/drawing/2014/main" id="{BF52B710-9DAC-491B-B4F6-8A1B7C5FE68B}"/>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Elapsed session time, including builds, tool waits, approvals and discussion.</a:t>
            </a:r>
          </a:p>
        </p:txBody>
      </p:sp>
      <p:sp>
        <p:nvSpPr>
          <p:cNvPr id="4" name="">
            <a:extLst xmlns:a="http://schemas.openxmlformats.org/drawingml/2006/main">
              <a:ext uri="{FF2B5EF4-FFF2-40B4-BE49-F238E27FC236}">
                <a16:creationId xmlns:a16="http://schemas.microsoft.com/office/drawing/2014/main" id="{2B56948D-EFDF-45DC-8562-2CB15E5126E2}"/>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83A6A761-6AC7-476E-AFFF-10A21C4A6438}"/>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04</a:t>
            </a:r>
          </a:p>
        </p:txBody>
      </p:sp>
      <p:graphicFrame>
        <p:nvGraphicFramePr>
          <p:cNvPr id="13" name=""/>
          <p:cNvGraphicFramePr/>
          <p:nvPr/>
        </p:nvGraphicFramePr>
        <p:xfrm>
          <a:off xmlns:a="http://schemas.openxmlformats.org/drawingml/2006/main" x="609600" y="2381250"/>
          <a:ext xmlns:a="http://schemas.openxmlformats.org/drawingml/2006/main" cx="10972800" cy="3000375"/>
        </p:xfrm>
        <a:graphic xmlns:a="http://schemas.openxmlformats.org/drawingml/2006/main">
          <a:graphicData uri="http://schemas.openxmlformats.org/drawingml/2006/table">
            <a:tbl>
              <a:tblPr/>
              <a:tblGrid>
                <a:gridCol w="5095875"/>
                <a:gridCol w="2762250"/>
                <a:gridCol w="3114675"/>
              </a:tblGrid>
              <a:tr h="600075">
                <a:tc>
                  <a:txBody>
                    <a:bodyPr/>
                    <a:lstStyle/>
                    <a:p>
                      <a:r>
                        <a:rPr sz="1875" b="1">
                          <a:solidFill>
                            <a:srgbClr val="FFFFFF"/>
                          </a:solidFill>
                          <a:latin typeface="Helvetica Neue"/>
                          <a:ea typeface="Helvetica Neue"/>
                          <a:cs typeface="Helvetica Neue"/>
                        </a:rPr>
                        <a:t>Milestone</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Central daylight time</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Elapsed from request</a:t>
                      </a:r>
                    </a:p>
                  </a:txBody>
                  <a:tcPr marL="91440" marR="91440" marT="45720" marB="45720">
                    <a:solidFill>
                      <a:srgbClr val="151515"/>
                    </a:solidFill>
                  </a:tcPr>
                </a:tc>
              </a:tr>
              <a:tr h="600075">
                <a:tc>
                  <a:txBody>
                    <a:bodyPr/>
                    <a:lstStyle/>
                    <a:p>
                      <a:r>
                        <a:rPr sz="1875" b="0">
                          <a:solidFill>
                            <a:srgbClr val="151515"/>
                          </a:solidFill>
                          <a:latin typeface="Helvetica Neue"/>
                          <a:ea typeface="Helvetica Neue"/>
                          <a:cs typeface="Helvetica Neue"/>
                        </a:rPr>
                        <a:t>Implementation request</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08:44:56</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Start</a:t>
                      </a:r>
                    </a:p>
                  </a:txBody>
                  <a:tcPr marL="91440" marR="91440" marT="45720" marB="45720">
                    <a:solidFill>
                      <a:srgbClr val="FFFFFF"/>
                    </a:solidFill>
                  </a:tcPr>
                </a:tc>
              </a:tr>
              <a:tr h="600075">
                <a:tc>
                  <a:txBody>
                    <a:bodyPr/>
                    <a:lstStyle/>
                    <a:p>
                      <a:r>
                        <a:rPr sz="1875" b="0">
                          <a:solidFill>
                            <a:srgbClr val="151515"/>
                          </a:solidFill>
                          <a:latin typeface="Helvetica Neue"/>
                          <a:ea typeface="Helvetica Neue"/>
                          <a:cs typeface="Helvetica Neue"/>
                        </a:rPr>
                        <a:t>Tested v0.1.0 baseline</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11:08:54</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2 h 24 min</a:t>
                      </a:r>
                    </a:p>
                  </a:txBody>
                  <a:tcPr marL="91440" marR="91440" marT="45720" marB="45720">
                    <a:solidFill>
                      <a:srgbClr val="F3F3F3"/>
                    </a:solidFill>
                  </a:tcPr>
                </a:tc>
              </a:tr>
              <a:tr h="600075">
                <a:tc>
                  <a:txBody>
                    <a:bodyPr/>
                    <a:lstStyle/>
                    <a:p>
                      <a:r>
                        <a:rPr sz="1875" b="0">
                          <a:solidFill>
                            <a:srgbClr val="151515"/>
                          </a:solidFill>
                          <a:latin typeface="Helvetica Neue"/>
                          <a:ea typeface="Helvetica Neue"/>
                          <a:cs typeface="Helvetica Neue"/>
                        </a:rPr>
                        <a:t>Optimization requested</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11:09:19</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2 h 24 min</a:t>
                      </a:r>
                    </a:p>
                  </a:txBody>
                  <a:tcPr marL="91440" marR="91440" marT="45720" marB="45720">
                    <a:solidFill>
                      <a:srgbClr val="FFFFFF"/>
                    </a:solidFill>
                  </a:tcPr>
                </a:tc>
              </a:tr>
              <a:tr h="600075">
                <a:tc>
                  <a:txBody>
                    <a:bodyPr/>
                    <a:lstStyle/>
                    <a:p>
                      <a:r>
                        <a:rPr sz="1875" b="0">
                          <a:solidFill>
                            <a:srgbClr val="151515"/>
                          </a:solidFill>
                          <a:latin typeface="Helvetica Neue"/>
                          <a:ea typeface="Helvetica Neue"/>
                          <a:cs typeface="Helvetica Neue"/>
                        </a:rPr>
                        <a:t>Tested v0.1.1 release</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12:39:35</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3 h 55 min</a:t>
                      </a:r>
                    </a:p>
                  </a:txBody>
                  <a:tcPr marL="91440" marR="91440" marT="45720" marB="45720">
                    <a:solidFill>
                      <a:srgbClr val="F3F3F3"/>
                    </a:solidFill>
                  </a:tcPr>
                </a:tc>
              </a:tr>
            </a:tbl>
          </a:graphicData>
        </a:graphic>
      </p:graphicFrame>
      <p:sp>
        <p:nvSpPr>
          <p:cNvPr id="7" name="">
            <a:extLst xmlns:a="http://schemas.openxmlformats.org/drawingml/2006/main">
              <a:ext uri="{FF2B5EF4-FFF2-40B4-BE49-F238E27FC236}">
                <a16:creationId xmlns:a16="http://schemas.microsoft.com/office/drawing/2014/main" id="{380FCE41-6D7C-448E-8397-664E8A839857}"/>
              </a:ext>
            </a:extLst>
          </p:cNvPr>
          <p:cNvSpPr>
            <a:spLocks xmlns:a="http://schemas.openxmlformats.org/drawingml/2006/main" noGrp="1"/>
          </p:cNvSpPr>
          <p:nvPr/>
        </p:nvSpPr>
        <p:spPr>
          <a:xfrm xmlns:a="http://schemas.openxmlformats.org/drawingml/2006/main">
            <a:off x="609600" y="57150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0000"/>
                </a:solidFill>
                <a:latin typeface="Helvetica Neue"/>
                <a:ea typeface="Helvetica Neue"/>
                <a:cs typeface="Helvetica Neue"/>
              </a:defRPr>
            </a:pPr>
            <a:r>
              <a:rPr sz="2025" b="1">
                <a:solidFill>
                  <a:srgbClr val="EE0000"/>
                </a:solidFill>
                <a:latin typeface="Helvetica Neue"/>
                <a:ea typeface="Helvetica Neue"/>
                <a:cs typeface="Helvetica Neue"/>
              </a:rPr>
              <a:t>23 commits  /  About 1 h 30 min for performance analysis, fixes and validation</a:t>
            </a:r>
          </a:p>
        </p:txBody>
      </p:sp>
    </p:spTree>
    <p:extLst>
      <p:ext uri="{BB962C8B-B14F-4D97-AF65-F5344CB8AC3E}">
        <p14:creationId xmlns:p14="http://schemas.microsoft.com/office/powerpoint/2010/main" val="2317203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D429A2-4222-4495-B7E7-F5839FB9623F}"/>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4D44B54A-5A75-4B5C-A6D3-BA3209A3739E}"/>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Recorded session tokens</a:t>
            </a:r>
          </a:p>
        </p:txBody>
      </p:sp>
      <p:sp>
        <p:nvSpPr>
          <p:cNvPr id="3" name="">
            <a:extLst xmlns:a="http://schemas.openxmlformats.org/drawingml/2006/main">
              <a:ext uri="{FF2B5EF4-FFF2-40B4-BE49-F238E27FC236}">
                <a16:creationId xmlns:a16="http://schemas.microsoft.com/office/drawing/2014/main" id="{B30179F3-EDB4-4378-AFA4-21D237076A36}"/>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Development cutoff: 12:39:58 CDT. Presentation generation is excluded.</a:t>
            </a:r>
          </a:p>
        </p:txBody>
      </p:sp>
      <p:sp>
        <p:nvSpPr>
          <p:cNvPr id="4" name="">
            <a:extLst xmlns:a="http://schemas.openxmlformats.org/drawingml/2006/main">
              <a:ext uri="{FF2B5EF4-FFF2-40B4-BE49-F238E27FC236}">
                <a16:creationId xmlns:a16="http://schemas.microsoft.com/office/drawing/2014/main" id="{DB2CDB51-328F-406D-91DF-B7150F962593}"/>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67D35875-D322-442E-A337-CD204D4315BD}"/>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77D7DE17-D9FA-47D6-8F91-DE4892564E27}"/>
              </a:ext>
            </a:extLst>
          </p:cNvPr>
          <p:cNvSpPr>
            <a:spLocks xmlns:a="http://schemas.openxmlformats.org/drawingml/2006/main" noGrp="1"/>
          </p:cNvSpPr>
          <p:nvPr/>
        </p:nvSpPr>
        <p:spPr>
          <a:xfrm xmlns:a="http://schemas.openxmlformats.org/drawingml/2006/main">
            <a:off x="6096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EE0000"/>
                </a:solidFill>
                <a:latin typeface="Helvetica Neue"/>
                <a:ea typeface="Helvetica Neue"/>
                <a:cs typeface="Helvetica Neue"/>
              </a:defRPr>
            </a:pPr>
            <a:r>
              <a:rPr sz="5700" b="1">
                <a:solidFill>
                  <a:srgbClr val="EE0000"/>
                </a:solidFill>
                <a:latin typeface="Helvetica Neue"/>
                <a:ea typeface="Helvetica Neue"/>
                <a:cs typeface="Helvetica Neue"/>
              </a:rPr>
              <a:t>10.41 million</a:t>
            </a:r>
          </a:p>
        </p:txBody>
      </p:sp>
      <p:sp>
        <p:nvSpPr>
          <p:cNvPr id="7" name="">
            <a:extLst xmlns:a="http://schemas.openxmlformats.org/drawingml/2006/main">
              <a:ext uri="{FF2B5EF4-FFF2-40B4-BE49-F238E27FC236}">
                <a16:creationId xmlns:a16="http://schemas.microsoft.com/office/drawing/2014/main" id="{A0A125CC-E3BB-43C6-B4EE-51D681821573}"/>
              </a:ext>
            </a:extLst>
          </p:cNvPr>
          <p:cNvSpPr>
            <a:spLocks xmlns:a="http://schemas.openxmlformats.org/drawingml/2006/main" noGrp="1"/>
          </p:cNvSpPr>
          <p:nvPr/>
        </p:nvSpPr>
        <p:spPr>
          <a:xfrm xmlns:a="http://schemas.openxmlformats.org/drawingml/2006/main">
            <a:off x="609600" y="33909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1515"/>
                </a:solidFill>
                <a:latin typeface="Helvetica Neue"/>
                <a:ea typeface="Helvetica Neue"/>
                <a:cs typeface="Helvetica Neue"/>
              </a:defRPr>
            </a:pPr>
            <a:r>
              <a:rPr sz="2250" b="0">
                <a:solidFill>
                  <a:srgbClr val="151515"/>
                </a:solidFill>
                <a:latin typeface="Helvetica Neue"/>
                <a:ea typeface="Helvetica Neue"/>
                <a:cs typeface="Helvetica Neue"/>
              </a:rPr>
              <a:t>Total recorded tokens, including reused context</a:t>
            </a:r>
          </a:p>
        </p:txBody>
      </p:sp>
      <p:graphicFrame>
        <p:nvGraphicFramePr>
          <p:cNvPr id="17" name=""/>
          <p:cNvGraphicFramePr/>
          <p:nvPr/>
        </p:nvGraphicFramePr>
        <p:xfrm>
          <a:off xmlns:a="http://schemas.openxmlformats.org/drawingml/2006/main" x="609600" y="4181475"/>
          <a:ext xmlns:a="http://schemas.openxmlformats.org/drawingml/2006/main" cx="10972800" cy="1333500"/>
        </p:xfrm>
        <a:graphic xmlns:a="http://schemas.openxmlformats.org/drawingml/2006/main">
          <a:graphicData uri="http://schemas.openxmlformats.org/drawingml/2006/table">
            <a:tbl>
              <a:tblPr/>
              <a:tblGrid>
                <a:gridCol w="4191000"/>
                <a:gridCol w="3390900"/>
                <a:gridCol w="3390900"/>
              </a:tblGrid>
              <a:tr h="666750">
                <a:tc>
                  <a:txBody>
                    <a:bodyPr/>
                    <a:lstStyle/>
                    <a:p>
                      <a:r>
                        <a:rPr sz="2250" b="1">
                          <a:solidFill>
                            <a:srgbClr val="FFFFFF"/>
                          </a:solidFill>
                          <a:latin typeface="Helvetica Neue"/>
                          <a:ea typeface="Helvetica Neue"/>
                          <a:cs typeface="Helvetica Neue"/>
                        </a:rPr>
                        <a:t>Cached input</a:t>
                      </a:r>
                    </a:p>
                  </a:txBody>
                  <a:tcPr marL="91440" marR="91440" marT="45720" marB="45720">
                    <a:solidFill>
                      <a:srgbClr val="151515"/>
                    </a:solidFill>
                  </a:tcPr>
                </a:tc>
                <a:tc>
                  <a:txBody>
                    <a:bodyPr/>
                    <a:lstStyle/>
                    <a:p>
                      <a:r>
                        <a:rPr sz="2250" b="1">
                          <a:solidFill>
                            <a:srgbClr val="FFFFFF"/>
                          </a:solidFill>
                          <a:latin typeface="Helvetica Neue"/>
                          <a:ea typeface="Helvetica Neue"/>
                          <a:cs typeface="Helvetica Neue"/>
                        </a:rPr>
                        <a:t>New input</a:t>
                      </a:r>
                    </a:p>
                  </a:txBody>
                  <a:tcPr marL="91440" marR="91440" marT="45720" marB="45720">
                    <a:solidFill>
                      <a:srgbClr val="151515"/>
                    </a:solidFill>
                  </a:tcPr>
                </a:tc>
                <a:tc>
                  <a:txBody>
                    <a:bodyPr/>
                    <a:lstStyle/>
                    <a:p>
                      <a:r>
                        <a:rPr sz="2250" b="1">
                          <a:solidFill>
                            <a:srgbClr val="FFFFFF"/>
                          </a:solidFill>
                          <a:latin typeface="Helvetica Neue"/>
                          <a:ea typeface="Helvetica Neue"/>
                          <a:cs typeface="Helvetica Neue"/>
                        </a:rPr>
                        <a:t>Output</a:t>
                      </a:r>
                    </a:p>
                  </a:txBody>
                  <a:tcPr marL="91440" marR="91440" marT="45720" marB="45720">
                    <a:solidFill>
                      <a:srgbClr val="151515"/>
                    </a:solidFill>
                  </a:tcPr>
                </a:tc>
              </a:tr>
              <a:tr h="666750">
                <a:tc>
                  <a:txBody>
                    <a:bodyPr/>
                    <a:lstStyle/>
                    <a:p>
                      <a:r>
                        <a:rPr sz="2250" b="0">
                          <a:solidFill>
                            <a:srgbClr val="151515"/>
                          </a:solidFill>
                          <a:latin typeface="Helvetica Neue"/>
                          <a:ea typeface="Helvetica Neue"/>
                          <a:cs typeface="Helvetica Neue"/>
                        </a:rPr>
                        <a:t>10,152,320</a:t>
                      </a:r>
                    </a:p>
                  </a:txBody>
                  <a:tcPr marL="91440" marR="91440" marT="45720" marB="45720">
                    <a:solidFill>
                      <a:srgbClr val="FFFFFF"/>
                    </a:solidFill>
                  </a:tcPr>
                </a:tc>
                <a:tc>
                  <a:txBody>
                    <a:bodyPr/>
                    <a:lstStyle/>
                    <a:p>
                      <a:r>
                        <a:rPr sz="2250" b="0">
                          <a:solidFill>
                            <a:srgbClr val="151515"/>
                          </a:solidFill>
                          <a:latin typeface="Helvetica Neue"/>
                          <a:ea typeface="Helvetica Neue"/>
                          <a:cs typeface="Helvetica Neue"/>
                        </a:rPr>
                        <a:t>190,140</a:t>
                      </a:r>
                    </a:p>
                  </a:txBody>
                  <a:tcPr marL="91440" marR="91440" marT="45720" marB="45720">
                    <a:solidFill>
                      <a:srgbClr val="FFFFFF"/>
                    </a:solidFill>
                  </a:tcPr>
                </a:tc>
                <a:tc>
                  <a:txBody>
                    <a:bodyPr/>
                    <a:lstStyle/>
                    <a:p>
                      <a:r>
                        <a:rPr sz="2250" b="0">
                          <a:solidFill>
                            <a:srgbClr val="151515"/>
                          </a:solidFill>
                          <a:latin typeface="Helvetica Neue"/>
                          <a:ea typeface="Helvetica Neue"/>
                          <a:cs typeface="Helvetica Neue"/>
                        </a:rPr>
                        <a:t>68,266</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3F444FD0-7ADF-4D6D-94D1-ED53CF43529A}"/>
              </a:ext>
            </a:extLst>
          </p:cNvPr>
          <p:cNvSpPr>
            <a:spLocks xmlns:a="http://schemas.openxmlformats.org/drawingml/2006/main" noGrp="1"/>
          </p:cNvSpPr>
          <p:nvPr/>
        </p:nvSpPr>
        <p:spPr>
          <a:xfrm xmlns:a="http://schemas.openxmlformats.org/drawingml/2006/main">
            <a:off x="609600" y="58197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5555"/>
                </a:solidFill>
                <a:latin typeface="Helvetica Neue"/>
                <a:ea typeface="Helvetica Neue"/>
                <a:cs typeface="Helvetica Neue"/>
              </a:defRPr>
            </a:pPr>
            <a:r>
              <a:rPr sz="1800" b="0">
                <a:solidFill>
                  <a:srgbClr val="555555"/>
                </a:solidFill>
                <a:latin typeface="Helvetica Neue"/>
                <a:ea typeface="Helvetica Neue"/>
                <a:cs typeface="Helvetica Neue"/>
              </a:rPr>
              <a:t>98.2% of input was cached. These counts are not unique text or a dollar cost.</a:t>
            </a:r>
          </a:p>
        </p:txBody>
      </p:sp>
    </p:spTree>
    <p:extLst>
      <p:ext uri="{BB962C8B-B14F-4D97-AF65-F5344CB8AC3E}">
        <p14:creationId xmlns:p14="http://schemas.microsoft.com/office/powerpoint/2010/main" val="68197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C783560-76C7-4498-BAE6-1C3320FF9D2C}"/>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D1620105-F220-464B-AE91-958EBD4E6F61}"/>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Hard part: incomplete bytes, persistent state</a:t>
            </a:r>
          </a:p>
        </p:txBody>
      </p:sp>
      <p:sp>
        <p:nvSpPr>
          <p:cNvPr id="3" name="">
            <a:extLst xmlns:a="http://schemas.openxmlformats.org/drawingml/2006/main">
              <a:ext uri="{FF2B5EF4-FFF2-40B4-BE49-F238E27FC236}">
                <a16:creationId xmlns:a16="http://schemas.microsoft.com/office/drawing/2014/main" id="{16F64E6F-5807-49B6-9A85-9899BA466BD5}"/>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A network chunk may end inside a header, palette or compressed tile.</a:t>
            </a:r>
          </a:p>
        </p:txBody>
      </p:sp>
      <p:sp>
        <p:nvSpPr>
          <p:cNvPr id="4" name="">
            <a:extLst xmlns:a="http://schemas.openxmlformats.org/drawingml/2006/main">
              <a:ext uri="{FF2B5EF4-FFF2-40B4-BE49-F238E27FC236}">
                <a16:creationId xmlns:a16="http://schemas.microsoft.com/office/drawing/2014/main" id="{87610957-8703-4618-AA4A-8C4977290B9B}"/>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8F007D92-29E9-4C93-AF73-5D227DC2FD8F}"/>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218F5824-4A2A-4052-9B12-5130EAF83331}"/>
              </a:ext>
            </a:extLst>
          </p:cNvPr>
          <p:cNvSpPr>
            <a:spLocks xmlns:a="http://schemas.openxmlformats.org/drawingml/2006/main" noGrp="1"/>
          </p:cNvSpPr>
          <p:nvPr/>
        </p:nvSpPr>
        <p:spPr>
          <a:xfrm xmlns:a="http://schemas.openxmlformats.org/drawingml/2006/main">
            <a:off x="609600" y="2714625"/>
            <a:ext cx="2381250"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7" name="">
            <a:extLst xmlns:a="http://schemas.openxmlformats.org/drawingml/2006/main">
              <a:ext uri="{FF2B5EF4-FFF2-40B4-BE49-F238E27FC236}">
                <a16:creationId xmlns:a16="http://schemas.microsoft.com/office/drawing/2014/main" id="{50B10B5F-C3A7-4B18-BCA4-1BE1DEEE75C0}"/>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Fragmented</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transport bytes</a:t>
            </a:r>
          </a:p>
        </p:txBody>
      </p:sp>
      <p:sp>
        <p:nvSpPr>
          <p:cNvPr id="8" name="">
            <a:extLst xmlns:a="http://schemas.openxmlformats.org/drawingml/2006/main">
              <a:ext uri="{FF2B5EF4-FFF2-40B4-BE49-F238E27FC236}">
                <a16:creationId xmlns:a16="http://schemas.microsoft.com/office/drawing/2014/main" id="{28805A71-8288-4AA1-88EE-4EC66DF9EDDE}"/>
              </a:ext>
            </a:extLst>
          </p:cNvPr>
          <p:cNvSpPr>
            <a:spLocks xmlns:a="http://schemas.openxmlformats.org/drawingml/2006/main" noGrp="1"/>
          </p:cNvSpPr>
          <p:nvPr/>
        </p:nvSpPr>
        <p:spPr>
          <a:xfrm xmlns:a="http://schemas.openxmlformats.org/drawingml/2006/main">
            <a:off x="3943350" y="2714625"/>
            <a:ext cx="2952750"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9" name="">
            <a:extLst xmlns:a="http://schemas.openxmlformats.org/drawingml/2006/main">
              <a:ext uri="{FF2B5EF4-FFF2-40B4-BE49-F238E27FC236}">
                <a16:creationId xmlns:a16="http://schemas.microsoft.com/office/drawing/2014/main" id="{2D4AE067-FE05-4C59-84DA-0A319AC4EA12}"/>
              </a:ext>
            </a:extLst>
          </p:cNvPr>
          <p:cNvSpPr>
            <a:spLocks xmlns:a="http://schemas.openxmlformats.org/drawingml/2006/main" noGrp="1"/>
          </p:cNvSpPr>
          <p:nvPr/>
        </p:nvSpPr>
        <p:spPr>
          <a:xfrm xmlns:a="http://schemas.openxmlformats.org/drawingml/2006/main">
            <a:off x="4114800" y="285750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Buffered parser</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Complete item?</a:t>
            </a:r>
          </a:p>
        </p:txBody>
      </p:sp>
      <p:sp>
        <p:nvSpPr>
          <p:cNvPr id="10" name="">
            <a:extLst xmlns:a="http://schemas.openxmlformats.org/drawingml/2006/main">
              <a:ext uri="{FF2B5EF4-FFF2-40B4-BE49-F238E27FC236}">
                <a16:creationId xmlns:a16="http://schemas.microsoft.com/office/drawing/2014/main" id="{4FF15F88-860A-4408-AED7-AB87C7F80C0F}"/>
              </a:ext>
            </a:extLst>
          </p:cNvPr>
          <p:cNvSpPr>
            <a:spLocks xmlns:a="http://schemas.openxmlformats.org/drawingml/2006/main" noGrp="1"/>
          </p:cNvSpPr>
          <p:nvPr/>
        </p:nvSpPr>
        <p:spPr>
          <a:xfrm xmlns:a="http://schemas.openxmlformats.org/drawingml/2006/main">
            <a:off x="7848600" y="2714625"/>
            <a:ext cx="3619500" cy="1047750"/>
          </a:xfrm>
          <a:prstGeom xmlns:a="http://schemas.openxmlformats.org/drawingml/2006/main" prst="rect">
            <a:avLst/>
          </a:prstGeom>
          <a:solidFill xmlns:a="http://schemas.openxmlformats.org/drawingml/2006/main">
            <a:srgbClr val="EE0000"/>
          </a:solidFill>
          <a:ln xmlns:a="http://schemas.openxmlformats.org/drawingml/2006/main" w="9525">
            <a:solidFill>
              <a:srgbClr val="EE0000"/>
            </a:solidFill>
          </a:ln>
        </p:spPr>
      </p:sp>
      <p:sp>
        <p:nvSpPr>
          <p:cNvPr id="11" name="">
            <a:extLst xmlns:a="http://schemas.openxmlformats.org/drawingml/2006/main">
              <a:ext uri="{FF2B5EF4-FFF2-40B4-BE49-F238E27FC236}">
                <a16:creationId xmlns:a16="http://schemas.microsoft.com/office/drawing/2014/main" id="{CCB1D321-5508-45F6-9776-EDEED1AAF1C0}"/>
              </a:ext>
            </a:extLst>
          </p:cNvPr>
          <p:cNvSpPr>
            <a:spLocks xmlns:a="http://schemas.openxmlformats.org/drawingml/2006/main" noGrp="1"/>
          </p:cNvSpPr>
          <p:nvPr/>
        </p:nvSpPr>
        <p:spPr>
          <a:xfrm xmlns:a="http://schemas.openxmlformats.org/drawingml/2006/main">
            <a:off x="8020050" y="2857500"/>
            <a:ext cx="327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Persistent zlib</a:t>
            </a:r>
          </a:p>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Tile decoder</a:t>
            </a:r>
          </a:p>
        </p:txBody>
      </p:sp>
      <p:cxnSp>
        <p:nvCxnSpPr>
          <p:cNvPr id="30" name=""/>
          <p:cNvCxnSpPr>
            <a:stCxn xmlns:a="http://schemas.openxmlformats.org/drawingml/2006/main" id="6" idx="3"/>
            <a:endCxn xmlns:a="http://schemas.openxmlformats.org/drawingml/2006/main" id="8" idx="1"/>
          </p:cNvCxnSpPr>
          <p:nvPr/>
        </p:nvCxnSpPr>
        <p:spPr>
          <a:xfrm xmlns:a="http://schemas.openxmlformats.org/drawingml/2006/main">
            <a:off x="2990850" y="3238500"/>
            <a:ext cx="952500" cy="0"/>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1" name=""/>
          <p:cNvCxnSpPr>
            <a:stCxn xmlns:a="http://schemas.openxmlformats.org/drawingml/2006/main" id="8" idx="3"/>
            <a:endCxn xmlns:a="http://schemas.openxmlformats.org/drawingml/2006/main" id="10" idx="1"/>
          </p:cNvCxnSpPr>
          <p:nvPr/>
        </p:nvCxnSpPr>
        <p:spPr>
          <a:xfrm xmlns:a="http://schemas.openxmlformats.org/drawingml/2006/main">
            <a:off x="6896100" y="3238500"/>
            <a:ext cx="952500" cy="0"/>
          </a:xfrm>
          <a:prstGeom xmlns:a="http://schemas.openxmlformats.org/drawingml/2006/main" prst="straightConnector1">
            <a:avLst/>
          </a:prstGeom>
          <a:ln xmlns:a="http://schemas.openxmlformats.org/drawingml/2006/main" w="28575">
            <a:solidFill>
              <a:srgbClr val="EE0000"/>
            </a:solidFill>
            <a:tailEnd type="triangle" w="med" len="med"/>
          </a:ln>
        </p:spPr>
      </p:cxnSp>
      <p:sp>
        <p:nvSpPr>
          <p:cNvPr id="14" name="">
            <a:extLst xmlns:a="http://schemas.openxmlformats.org/drawingml/2006/main">
              <a:ext uri="{FF2B5EF4-FFF2-40B4-BE49-F238E27FC236}">
                <a16:creationId xmlns:a16="http://schemas.microsoft.com/office/drawing/2014/main" id="{B9823AA7-6F64-4DE5-8A31-AEB7FBDBD301}"/>
              </a:ext>
            </a:extLst>
          </p:cNvPr>
          <p:cNvSpPr>
            <a:spLocks xmlns:a="http://schemas.openxmlformats.org/drawingml/2006/main" noGrp="1"/>
          </p:cNvSpPr>
          <p:nvPr/>
        </p:nvSpPr>
        <p:spPr>
          <a:xfrm xmlns:a="http://schemas.openxmlformats.org/drawingml/2006/main">
            <a:off x="3943350" y="40767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E0000"/>
                </a:solidFill>
                <a:latin typeface="Helvetica Neue"/>
                <a:ea typeface="Helvetica Neue"/>
                <a:cs typeface="Helvetica Neue"/>
              </a:defRPr>
            </a:pPr>
            <a:r>
              <a:rPr sz="2100" b="1">
                <a:solidFill>
                  <a:srgbClr val="EE0000"/>
                </a:solidFill>
                <a:latin typeface="Helvetica Neue"/>
                <a:ea typeface="Helvetica Neue"/>
                <a:cs typeface="Helvetica Neue"/>
              </a:rPr>
              <a:t>Incomplete</a:t>
            </a:r>
          </a:p>
        </p:txBody>
      </p:sp>
      <p:sp>
        <p:nvSpPr>
          <p:cNvPr id="15" name="">
            <a:extLst xmlns:a="http://schemas.openxmlformats.org/drawingml/2006/main">
              <a:ext uri="{FF2B5EF4-FFF2-40B4-BE49-F238E27FC236}">
                <a16:creationId xmlns:a16="http://schemas.microsoft.com/office/drawing/2014/main" id="{6C4B4C36-7C33-4D30-9837-09AF5262FB95}"/>
              </a:ext>
            </a:extLst>
          </p:cNvPr>
          <p:cNvSpPr>
            <a:spLocks xmlns:a="http://schemas.openxmlformats.org/drawingml/2006/main" noGrp="1"/>
          </p:cNvSpPr>
          <p:nvPr/>
        </p:nvSpPr>
        <p:spPr>
          <a:xfrm xmlns:a="http://schemas.openxmlformats.org/drawingml/2006/main">
            <a:off x="3943350" y="452437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Wait for more bytes.</a:t>
            </a:r>
          </a:p>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Preserve protocol state.</a:t>
            </a:r>
          </a:p>
        </p:txBody>
      </p:sp>
      <p:sp>
        <p:nvSpPr>
          <p:cNvPr id="16" name="">
            <a:extLst xmlns:a="http://schemas.openxmlformats.org/drawingml/2006/main">
              <a:ext uri="{FF2B5EF4-FFF2-40B4-BE49-F238E27FC236}">
                <a16:creationId xmlns:a16="http://schemas.microsoft.com/office/drawing/2014/main" id="{C3E0A9B3-CFED-40DC-BE54-81B71D5D14B1}"/>
              </a:ext>
            </a:extLst>
          </p:cNvPr>
          <p:cNvSpPr>
            <a:spLocks xmlns:a="http://schemas.openxmlformats.org/drawingml/2006/main" noGrp="1"/>
          </p:cNvSpPr>
          <p:nvPr/>
        </p:nvSpPr>
        <p:spPr>
          <a:xfrm xmlns:a="http://schemas.openxmlformats.org/drawingml/2006/main">
            <a:off x="7848600" y="40767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E0000"/>
                </a:solidFill>
                <a:latin typeface="Helvetica Neue"/>
                <a:ea typeface="Helvetica Neue"/>
                <a:cs typeface="Helvetica Neue"/>
              </a:defRPr>
            </a:pPr>
            <a:r>
              <a:rPr sz="2100" b="1">
                <a:solidFill>
                  <a:srgbClr val="EE0000"/>
                </a:solidFill>
                <a:latin typeface="Helvetica Neue"/>
                <a:ea typeface="Helvetica Neue"/>
                <a:cs typeface="Helvetica Neue"/>
              </a:rPr>
              <a:t>Complete</a:t>
            </a:r>
          </a:p>
        </p:txBody>
      </p:sp>
      <p:sp>
        <p:nvSpPr>
          <p:cNvPr id="17" name="">
            <a:extLst xmlns:a="http://schemas.openxmlformats.org/drawingml/2006/main">
              <a:ext uri="{FF2B5EF4-FFF2-40B4-BE49-F238E27FC236}">
                <a16:creationId xmlns:a16="http://schemas.microsoft.com/office/drawing/2014/main" id="{BC65EF90-43F0-41C7-A502-357E76F130B0}"/>
              </a:ext>
            </a:extLst>
          </p:cNvPr>
          <p:cNvSpPr>
            <a:spLocks xmlns:a="http://schemas.openxmlformats.org/drawingml/2006/main" noGrp="1"/>
          </p:cNvSpPr>
          <p:nvPr/>
        </p:nvSpPr>
        <p:spPr>
          <a:xfrm xmlns:a="http://schemas.openxmlformats.org/drawingml/2006/main">
            <a:off x="7848600" y="452437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Commit decoded output.</a:t>
            </a:r>
          </a:p>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Keep compression history</a:t>
            </a:r>
          </a:p>
          <a:p xmlns:a="http://schemas.openxmlformats.org/drawingml/2006/main">
            <a:pPr>
              <a:defRPr sz="1950" b="0">
                <a:solidFill>
                  <a:srgbClr val="151515"/>
                </a:solidFill>
                <a:latin typeface="Helvetica Neue"/>
                <a:ea typeface="Helvetica Neue"/>
                <a:cs typeface="Helvetica Neue"/>
              </a:defRPr>
            </a:pPr>
            <a:r>
              <a:rPr sz="1950" b="0">
                <a:solidFill>
                  <a:srgbClr val="151515"/>
                </a:solidFill>
                <a:latin typeface="Helvetica Neue"/>
                <a:ea typeface="Helvetica Neue"/>
                <a:cs typeface="Helvetica Neue"/>
              </a:rPr>
              <a:t>for the next rectangle.</a:t>
            </a:r>
          </a:p>
        </p:txBody>
      </p:sp>
      <p:sp>
        <p:nvSpPr>
          <p:cNvPr id="18" name="">
            <a:extLst xmlns:a="http://schemas.openxmlformats.org/drawingml/2006/main">
              <a:ext uri="{FF2B5EF4-FFF2-40B4-BE49-F238E27FC236}">
                <a16:creationId xmlns:a16="http://schemas.microsoft.com/office/drawing/2014/main" id="{74F6FF6F-BA0B-4977-BD07-E4E3C6775EF7}"/>
              </a:ext>
            </a:extLst>
          </p:cNvPr>
          <p:cNvSpPr>
            <a:spLocks xmlns:a="http://schemas.openxmlformats.org/drawingml/2006/main" noGrp="1"/>
          </p:cNvSpPr>
          <p:nvPr/>
        </p:nvSpPr>
        <p:spPr>
          <a:xfrm xmlns:a="http://schemas.openxmlformats.org/drawingml/2006/main">
            <a:off x="609600" y="428625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1515"/>
                </a:solidFill>
                <a:latin typeface="Helvetica Neue"/>
                <a:ea typeface="Helvetica Neue"/>
                <a:cs typeface="Helvetica Neue"/>
              </a:defRPr>
            </a:pPr>
            <a:r>
              <a:rPr sz="1875" b="0">
                <a:solidFill>
                  <a:srgbClr val="151515"/>
                </a:solidFill>
                <a:latin typeface="Helvetica Neue"/>
                <a:ea typeface="Helvetica Neue"/>
                <a:cs typeface="Helvetica Neue"/>
              </a:rPr>
              <a:t>Failure example</a:t>
            </a:r>
          </a:p>
          <a:p xmlns:a="http://schemas.openxmlformats.org/drawingml/2006/main">
            <a:pPr>
              <a:defRPr sz="1875" b="0">
                <a:solidFill>
                  <a:srgbClr val="151515"/>
                </a:solidFill>
                <a:latin typeface="Helvetica Neue"/>
                <a:ea typeface="Helvetica Neue"/>
                <a:cs typeface="Helvetica Neue"/>
              </a:defRPr>
            </a:pPr>
            <a:r>
              <a:rPr sz="1875" b="0">
                <a:solidFill>
                  <a:srgbClr val="151515"/>
                </a:solidFill>
                <a:latin typeface="Helvetica Neue"/>
                <a:ea typeface="Helvetica Neue"/>
                <a:cs typeface="Helvetica Neue"/>
              </a:rPr>
              <a:t>Restarting zlib per rectangle</a:t>
            </a:r>
          </a:p>
          <a:p xmlns:a="http://schemas.openxmlformats.org/drawingml/2006/main">
            <a:pPr>
              <a:defRPr sz="1875" b="0">
                <a:solidFill>
                  <a:srgbClr val="151515"/>
                </a:solidFill>
                <a:latin typeface="Helvetica Neue"/>
                <a:ea typeface="Helvetica Neue"/>
                <a:cs typeface="Helvetica Neue"/>
              </a:defRPr>
            </a:pPr>
            <a:r>
              <a:rPr sz="1875" b="0">
                <a:solidFill>
                  <a:srgbClr val="151515"/>
                </a:solidFill>
                <a:latin typeface="Helvetica Neue"/>
                <a:ea typeface="Helvetica Neue"/>
                <a:cs typeface="Helvetica Neue"/>
              </a:rPr>
              <a:t>breaks later updates.</a:t>
            </a:r>
          </a:p>
        </p:txBody>
      </p:sp>
    </p:spTree>
    <p:extLst>
      <p:ext uri="{BB962C8B-B14F-4D97-AF65-F5344CB8AC3E}">
        <p14:creationId xmlns:p14="http://schemas.microsoft.com/office/powerpoint/2010/main" val="3570519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65873C-D745-4178-B99B-2512E0ABD7CC}"/>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247FD7D4-5014-460E-99B9-5B51C8EB4B74}"/>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Hard part: pixels across memory boundaries</a:t>
            </a:r>
          </a:p>
        </p:txBody>
      </p:sp>
      <p:sp>
        <p:nvSpPr>
          <p:cNvPr id="3" name="">
            <a:extLst xmlns:a="http://schemas.openxmlformats.org/drawingml/2006/main">
              <a:ext uri="{FF2B5EF4-FFF2-40B4-BE49-F238E27FC236}">
                <a16:creationId xmlns:a16="http://schemas.microsoft.com/office/drawing/2014/main" id="{22E24573-5C8D-438A-BECB-A06CD0192958}"/>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Correct colour bytes are only one part of a correct browser framebuffer.</a:t>
            </a:r>
          </a:p>
        </p:txBody>
      </p:sp>
      <p:sp>
        <p:nvSpPr>
          <p:cNvPr id="4" name="">
            <a:extLst xmlns:a="http://schemas.openxmlformats.org/drawingml/2006/main">
              <a:ext uri="{FF2B5EF4-FFF2-40B4-BE49-F238E27FC236}">
                <a16:creationId xmlns:a16="http://schemas.microsoft.com/office/drawing/2014/main" id="{63DBA420-1ADE-4ACF-A9D7-0435A6F4CEE0}"/>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03EC5FF4-3233-4A11-8A14-1D5674BA7A41}"/>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07</a:t>
            </a:r>
          </a:p>
        </p:txBody>
      </p:sp>
      <p:graphicFrame>
        <p:nvGraphicFramePr>
          <p:cNvPr id="12" name=""/>
          <p:cNvGraphicFramePr/>
          <p:nvPr/>
        </p:nvGraphicFramePr>
        <p:xfrm>
          <a:off xmlns:a="http://schemas.openxmlformats.org/drawingml/2006/main" x="609600" y="2428875"/>
          <a:ext xmlns:a="http://schemas.openxmlformats.org/drawingml/2006/main" cx="10972800" cy="3333750"/>
        </p:xfrm>
        <a:graphic xmlns:a="http://schemas.openxmlformats.org/drawingml/2006/main">
          <a:graphicData uri="http://schemas.openxmlformats.org/drawingml/2006/table">
            <a:tbl>
              <a:tblPr/>
              <a:tblGrid>
                <a:gridCol w="3124200"/>
                <a:gridCol w="4819650"/>
                <a:gridCol w="3028950"/>
              </a:tblGrid>
              <a:tr h="833438">
                <a:tc>
                  <a:txBody>
                    <a:bodyPr/>
                    <a:lstStyle/>
                    <a:p>
                      <a:r>
                        <a:rPr sz="1875" b="1">
                          <a:solidFill>
                            <a:srgbClr val="FFFFFF"/>
                          </a:solidFill>
                          <a:latin typeface="Helvetica Neue"/>
                          <a:ea typeface="Helvetica Neue"/>
                          <a:cs typeface="Helvetica Neue"/>
                        </a:rPr>
                        <a:t>Failure mode</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Implementation response</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Verification</a:t>
                      </a:r>
                    </a:p>
                  </a:txBody>
                  <a:tcPr marL="91440" marR="91440" marT="45720" marB="45720">
                    <a:solidFill>
                      <a:srgbClr val="151515"/>
                    </a:solidFill>
                  </a:tcPr>
                </a:tc>
              </a:tr>
              <a:tr h="833438">
                <a:tc>
                  <a:txBody>
                    <a:bodyPr/>
                    <a:lstStyle/>
                    <a:p>
                      <a:r>
                        <a:rPr sz="1875" b="0">
                          <a:solidFill>
                            <a:srgbClr val="151515"/>
                          </a:solidFill>
                          <a:latin typeface="Helvetica Neue"/>
                          <a:ea typeface="Helvetica Neue"/>
                          <a:cs typeface="Helvetica Neue"/>
                        </a:rPr>
                        <a:t>RGBX spare byte treated as alpha</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Normalize framebuffer alpha to 255. Cursor masks supply transparency.</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Opaque pixels and cursor masks</a:t>
                      </a:r>
                    </a:p>
                  </a:txBody>
                  <a:tcPr marL="91440" marR="91440" marT="45720" marB="45720">
                    <a:solidFill>
                      <a:srgbClr val="FFFFFF"/>
                    </a:solidFill>
                  </a:tcPr>
                </a:tc>
              </a:tr>
              <a:tr h="833438">
                <a:tc>
                  <a:txBody>
                    <a:bodyPr/>
                    <a:lstStyle/>
                    <a:p>
                      <a:r>
                        <a:rPr sz="1875" b="0">
                          <a:solidFill>
                            <a:srgbClr val="151515"/>
                          </a:solidFill>
                          <a:latin typeface="Helvetica Neue"/>
                          <a:ea typeface="Helvetica Neue"/>
                          <a:cs typeface="Helvetica Neue"/>
                        </a:rPr>
                        <a:t>CopyRect source overlaps destination</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Copy rows in the safe direction, including bottom-up moves.</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Overlap and bounds regressions</a:t>
                      </a:r>
                    </a:p>
                  </a:txBody>
                  <a:tcPr marL="91440" marR="91440" marT="45720" marB="45720">
                    <a:solidFill>
                      <a:srgbClr val="F3F3F3"/>
                    </a:solidFill>
                  </a:tcPr>
                </a:tc>
              </a:tr>
              <a:tr h="833438">
                <a:tc>
                  <a:txBody>
                    <a:bodyPr/>
                    <a:lstStyle/>
                    <a:p>
                      <a:r>
                        <a:rPr sz="1875" b="0">
                          <a:solidFill>
                            <a:srgbClr val="151515"/>
                          </a:solidFill>
                          <a:latin typeface="Helvetica Neue"/>
                          <a:ea typeface="Helvetica Neue"/>
                          <a:cs typeface="Helvetica Neue"/>
                        </a:rPr>
                        <a:t>WASM memory growth detaches views</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Recreate ImageData when buffer, pointer or dimensions change.</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Real Chromium growth and resize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18324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2FD36C-332A-4E66-B887-CF07C2BBD86B}"/>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BEA408E6-D12D-4D3D-B1F7-68DDE6D1B85D}"/>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Hard part: hostile lengths and resize races</a:t>
            </a:r>
          </a:p>
        </p:txBody>
      </p:sp>
      <p:sp>
        <p:nvSpPr>
          <p:cNvPr id="3" name="">
            <a:extLst xmlns:a="http://schemas.openxmlformats.org/drawingml/2006/main">
              <a:ext uri="{FF2B5EF4-FFF2-40B4-BE49-F238E27FC236}">
                <a16:creationId xmlns:a16="http://schemas.microsoft.com/office/drawing/2014/main" id="{1EF16999-0562-4CDC-B5A3-2265517F358A}"/>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Bounds must survive compressed data and otherwise valid protocol sequences.</a:t>
            </a:r>
          </a:p>
        </p:txBody>
      </p:sp>
      <p:sp>
        <p:nvSpPr>
          <p:cNvPr id="4" name="">
            <a:extLst xmlns:a="http://schemas.openxmlformats.org/drawingml/2006/main">
              <a:ext uri="{FF2B5EF4-FFF2-40B4-BE49-F238E27FC236}">
                <a16:creationId xmlns:a16="http://schemas.microsoft.com/office/drawing/2014/main" id="{4349AB1B-5466-4F41-921A-DD8DBF7C825D}"/>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40070152-4A7F-4CF2-8C85-4F70B4D4D6C6}"/>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FEB6F07C-6469-4B28-8F52-590F69C996E3}"/>
              </a:ext>
            </a:extLst>
          </p:cNvPr>
          <p:cNvSpPr>
            <a:spLocks xmlns:a="http://schemas.openxmlformats.org/drawingml/2006/main" noGrp="1"/>
          </p:cNvSpPr>
          <p:nvPr/>
        </p:nvSpPr>
        <p:spPr>
          <a:xfrm xmlns:a="http://schemas.openxmlformats.org/drawingml/2006/main">
            <a:off x="609600" y="25050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E0000"/>
                </a:solidFill>
                <a:latin typeface="Helvetica Neue"/>
                <a:ea typeface="Helvetica Neue"/>
                <a:cs typeface="Helvetica Neue"/>
              </a:defRPr>
            </a:pPr>
            <a:r>
              <a:rPr sz="2475" b="1">
                <a:solidFill>
                  <a:srgbClr val="EE0000"/>
                </a:solidFill>
                <a:latin typeface="Helvetica Neue"/>
                <a:ea typeface="Helvetica Neue"/>
                <a:cs typeface="Helvetica Neue"/>
              </a:rPr>
              <a:t>Allocation and work budgets</a:t>
            </a:r>
          </a:p>
        </p:txBody>
      </p:sp>
      <p:sp>
        <p:nvSpPr>
          <p:cNvPr id="7" name="">
            <a:extLst xmlns:a="http://schemas.openxmlformats.org/drawingml/2006/main">
              <a:ext uri="{FF2B5EF4-FFF2-40B4-BE49-F238E27FC236}">
                <a16:creationId xmlns:a16="http://schemas.microsoft.com/office/drawing/2014/main" id="{533FC85E-EDA3-4F9E-8339-4FCCDABBC30F}"/>
              </a:ext>
            </a:extLst>
          </p:cNvPr>
          <p:cNvSpPr>
            <a:spLocks xmlns:a="http://schemas.openxmlformats.org/drawingml/2006/main" noGrp="1"/>
          </p:cNvSpPr>
          <p:nvPr/>
        </p:nvSpPr>
        <p:spPr>
          <a:xfrm xmlns:a="http://schemas.openxmlformats.org/drawingml/2006/main">
            <a:off x="609600" y="3133725"/>
            <a:ext cx="51911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16,777,216 pixels</a:t>
            </a:r>
          </a:p>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128 MiB protocol unit / input buffer</a:t>
            </a:r>
          </a:p>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1 MiB text</a:t>
            </a:r>
          </a:p>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4,096 rectangles per update</a:t>
            </a:r>
          </a:p>
        </p:txBody>
      </p:sp>
      <p:sp>
        <p:nvSpPr>
          <p:cNvPr id="8" name="">
            <a:extLst xmlns:a="http://schemas.openxmlformats.org/drawingml/2006/main">
              <a:ext uri="{FF2B5EF4-FFF2-40B4-BE49-F238E27FC236}">
                <a16:creationId xmlns:a16="http://schemas.microsoft.com/office/drawing/2014/main" id="{4C5B7A2C-5642-411D-8704-4FF92AEB281D}"/>
              </a:ext>
            </a:extLst>
          </p:cNvPr>
          <p:cNvSpPr>
            <a:spLocks xmlns:a="http://schemas.openxmlformats.org/drawingml/2006/main" noGrp="1"/>
          </p:cNvSpPr>
          <p:nvPr/>
        </p:nvSpPr>
        <p:spPr>
          <a:xfrm xmlns:a="http://schemas.openxmlformats.org/drawingml/2006/main">
            <a:off x="609600" y="5143500"/>
            <a:ext cx="5238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1515"/>
                </a:solidFill>
                <a:latin typeface="Helvetica Neue"/>
                <a:ea typeface="Helvetica Neue"/>
                <a:cs typeface="Helvetica Neue"/>
              </a:defRPr>
            </a:pPr>
            <a:r>
              <a:rPr sz="1800" b="0">
                <a:solidFill>
                  <a:srgbClr val="151515"/>
                </a:solidFill>
                <a:latin typeface="Helvetica Neue"/>
                <a:ea typeface="Helvetica Neue"/>
                <a:cs typeface="Helvetica Neue"/>
              </a:rPr>
              <a:t>Checked arithmetic and inflated-data caps.</a:t>
            </a:r>
          </a:p>
          <a:p xmlns:a="http://schemas.openxmlformats.org/drawingml/2006/main">
            <a:pPr>
              <a:defRPr sz="1800" b="0">
                <a:solidFill>
                  <a:srgbClr val="151515"/>
                </a:solidFill>
                <a:latin typeface="Helvetica Neue"/>
                <a:ea typeface="Helvetica Neue"/>
                <a:cs typeface="Helvetica Neue"/>
              </a:defRPr>
            </a:pPr>
            <a:r>
              <a:rPr sz="1800" b="0">
                <a:solidFill>
                  <a:srgbClr val="151515"/>
                </a:solidFill>
                <a:latin typeface="Helvetica Neue"/>
                <a:ea typeface="Helvetica Neue"/>
                <a:cs typeface="Helvetica Neue"/>
              </a:rPr>
              <a:t>LastRect sentinel counts cannot bypass limits.</a:t>
            </a:r>
          </a:p>
          <a:p xmlns:a="http://schemas.openxmlformats.org/drawingml/2006/main">
            <a:pPr>
              <a:defRPr sz="1800" b="0">
                <a:solidFill>
                  <a:srgbClr val="151515"/>
                </a:solidFill>
                <a:latin typeface="Helvetica Neue"/>
                <a:ea typeface="Helvetica Neue"/>
                <a:cs typeface="Helvetica Neue"/>
              </a:defRPr>
            </a:pPr>
            <a:r>
              <a:rPr sz="1800" b="0">
                <a:solidFill>
                  <a:srgbClr val="151515"/>
                </a:solidFill>
                <a:latin typeface="Helvetica Neue"/>
                <a:ea typeface="Helvetica Neue"/>
                <a:cs typeface="Helvetica Neue"/>
              </a:rPr>
              <a:t>Non-incomplete decode errors are terminal.</a:t>
            </a:r>
          </a:p>
        </p:txBody>
      </p:sp>
      <p:sp>
        <p:nvSpPr>
          <p:cNvPr id="9" name="">
            <a:extLst xmlns:a="http://schemas.openxmlformats.org/drawingml/2006/main">
              <a:ext uri="{FF2B5EF4-FFF2-40B4-BE49-F238E27FC236}">
                <a16:creationId xmlns:a16="http://schemas.microsoft.com/office/drawing/2014/main" id="{63A6E174-7915-484E-98F1-23042FBC3CD7}"/>
              </a:ext>
            </a:extLst>
          </p:cNvPr>
          <p:cNvSpPr>
            <a:spLocks xmlns:a="http://schemas.openxmlformats.org/drawingml/2006/main" noGrp="1"/>
          </p:cNvSpPr>
          <p:nvPr/>
        </p:nvSpPr>
        <p:spPr>
          <a:xfrm xmlns:a="http://schemas.openxmlformats.org/drawingml/2006/main">
            <a:off x="6572250" y="25050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EE0000"/>
                </a:solidFill>
                <a:latin typeface="Helvetica Neue"/>
                <a:ea typeface="Helvetica Neue"/>
                <a:cs typeface="Helvetica Neue"/>
              </a:defRPr>
            </a:pPr>
            <a:r>
              <a:rPr sz="2475" b="1">
                <a:solidFill>
                  <a:srgbClr val="EE0000"/>
                </a:solidFill>
                <a:latin typeface="Helvetica Neue"/>
                <a:ea typeface="Helvetica Neue"/>
                <a:cs typeface="Helvetica Neue"/>
              </a:rPr>
              <a:t>The resize ordering trap</a:t>
            </a:r>
          </a:p>
        </p:txBody>
      </p:sp>
      <p:sp>
        <p:nvSpPr>
          <p:cNvPr id="10" name="">
            <a:extLst xmlns:a="http://schemas.openxmlformats.org/drawingml/2006/main">
              <a:ext uri="{FF2B5EF4-FFF2-40B4-BE49-F238E27FC236}">
                <a16:creationId xmlns:a16="http://schemas.microsoft.com/office/drawing/2014/main" id="{39C5B13B-9DCE-456B-A678-9618056729CA}"/>
              </a:ext>
            </a:extLst>
          </p:cNvPr>
          <p:cNvSpPr>
            <a:spLocks xmlns:a="http://schemas.openxmlformats.org/drawingml/2006/main" noGrp="1"/>
          </p:cNvSpPr>
          <p:nvPr/>
        </p:nvSpPr>
        <p:spPr>
          <a:xfrm xmlns:a="http://schemas.openxmlformats.org/drawingml/2006/main">
            <a:off x="6572250" y="31432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The server has resized, but the client</a:t>
            </a:r>
          </a:p>
          <a:p xmlns:a="http://schemas.openxmlformats.org/drawingml/2006/main">
            <a:pPr>
              <a:defRPr sz="2100" b="0">
                <a:solidFill>
                  <a:srgbClr val="151515"/>
                </a:solidFill>
                <a:latin typeface="Helvetica Neue"/>
                <a:ea typeface="Helvetica Neue"/>
                <a:cs typeface="Helvetica Neue"/>
              </a:defRPr>
            </a:pPr>
            <a:r>
              <a:rPr sz="2100" b="0">
                <a:solidFill>
                  <a:srgbClr val="151515"/>
                </a:solidFill>
                <a:latin typeface="Helvetica Neue"/>
                <a:ea typeface="Helvetica Neue"/>
                <a:cs typeface="Helvetica Neue"/>
              </a:rPr>
              <a:t>can still request the old dimensions.</a:t>
            </a:r>
          </a:p>
        </p:txBody>
      </p:sp>
      <p:sp>
        <p:nvSpPr>
          <p:cNvPr id="11" name="">
            <a:extLst xmlns:a="http://schemas.openxmlformats.org/drawingml/2006/main">
              <a:ext uri="{FF2B5EF4-FFF2-40B4-BE49-F238E27FC236}">
                <a16:creationId xmlns:a16="http://schemas.microsoft.com/office/drawing/2014/main" id="{FC269804-7000-4113-A2E0-0FB1593AEBFE}"/>
              </a:ext>
            </a:extLst>
          </p:cNvPr>
          <p:cNvSpPr>
            <a:spLocks xmlns:a="http://schemas.openxmlformats.org/drawingml/2006/main" noGrp="1"/>
          </p:cNvSpPr>
          <p:nvPr/>
        </p:nvSpPr>
        <p:spPr>
          <a:xfrm xmlns:a="http://schemas.openxmlformats.org/drawingml/2006/main">
            <a:off x="6572250" y="4467225"/>
            <a:ext cx="50006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1515"/>
                </a:solidFill>
                <a:latin typeface="Helvetica Neue"/>
                <a:ea typeface="Helvetica Neue"/>
                <a:cs typeface="Helvetica Neue"/>
              </a:defRPr>
            </a:pPr>
            <a:r>
              <a:rPr sz="2025" b="0">
                <a:solidFill>
                  <a:srgbClr val="151515"/>
                </a:solidFill>
                <a:latin typeface="Helvetica Neue"/>
                <a:ea typeface="Helvetica Neue"/>
                <a:cs typeface="Helvetica Neue"/>
              </a:rPr>
              <a:t>Accept the outstanding old-size request.</a:t>
            </a:r>
          </a:p>
          <a:p xmlns:a="http://schemas.openxmlformats.org/drawingml/2006/main">
            <a:pPr>
              <a:defRPr sz="2025" b="0">
                <a:solidFill>
                  <a:srgbClr val="151515"/>
                </a:solidFill>
                <a:latin typeface="Helvetica Neue"/>
                <a:ea typeface="Helvetica Neue"/>
                <a:cs typeface="Helvetica Neue"/>
              </a:defRPr>
            </a:pPr>
            <a:r>
              <a:rPr sz="2025" b="0">
                <a:solidFill>
                  <a:srgbClr val="151515"/>
                </a:solidFill>
                <a:latin typeface="Helvetica Neue"/>
                <a:ea typeface="Helvetica Neue"/>
                <a:cs typeface="Helvetica Neue"/>
              </a:rPr>
              <a:t>Send DesktopSize last in the update.</a:t>
            </a:r>
          </a:p>
          <a:p xmlns:a="http://schemas.openxmlformats.org/drawingml/2006/main">
            <a:pPr>
              <a:defRPr sz="2025" b="0">
                <a:solidFill>
                  <a:srgbClr val="151515"/>
                </a:solidFill>
                <a:latin typeface="Helvetica Neue"/>
                <a:ea typeface="Helvetica Neue"/>
                <a:cs typeface="Helvetica Neue"/>
              </a:defRPr>
            </a:pPr>
            <a:r>
              <a:rPr sz="2025" b="0">
                <a:solidFill>
                  <a:srgbClr val="151515"/>
                </a:solidFill>
                <a:latin typeface="Helvetica Neue"/>
                <a:ea typeface="Helvetica Neue"/>
                <a:cs typeface="Helvetica Neue"/>
              </a:rPr>
              <a:t>The client then requests a full refresh.</a:t>
            </a:r>
          </a:p>
        </p:txBody>
      </p:sp>
    </p:spTree>
    <p:extLst>
      <p:ext uri="{BB962C8B-B14F-4D97-AF65-F5344CB8AC3E}">
        <p14:creationId xmlns:p14="http://schemas.microsoft.com/office/powerpoint/2010/main" val="11241934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530CC4-4F8A-44E1-8BB7-AF7BFBC5C991}"/>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F2706DFD-E2E8-47EB-AB83-88C251C77D36}"/>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Testing followed the deployment policy</a:t>
            </a:r>
          </a:p>
        </p:txBody>
      </p:sp>
      <p:sp>
        <p:nvSpPr>
          <p:cNvPr id="3" name="">
            <a:extLst xmlns:a="http://schemas.openxmlformats.org/drawingml/2006/main">
              <a:ext uri="{FF2B5EF4-FFF2-40B4-BE49-F238E27FC236}">
                <a16:creationId xmlns:a16="http://schemas.microsoft.com/office/drawing/2014/main" id="{20072960-85FA-4704-8F9A-30EA43CCDF89}"/>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Every Rust build, test and check ran on the designated Linux host.</a:t>
            </a:r>
          </a:p>
        </p:txBody>
      </p:sp>
      <p:sp>
        <p:nvSpPr>
          <p:cNvPr id="4" name="">
            <a:extLst xmlns:a="http://schemas.openxmlformats.org/drawingml/2006/main">
              <a:ext uri="{FF2B5EF4-FFF2-40B4-BE49-F238E27FC236}">
                <a16:creationId xmlns:a16="http://schemas.microsoft.com/office/drawing/2014/main" id="{6E1109B3-C570-4B73-905A-A13D1338DEFC}"/>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093BF604-D1AB-4F75-893F-714384937255}"/>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7648E0B0-33F9-48C4-809F-B0AD6ED1AC27}"/>
              </a:ext>
            </a:extLst>
          </p:cNvPr>
          <p:cNvSpPr>
            <a:spLocks xmlns:a="http://schemas.openxmlformats.org/drawingml/2006/main" noGrp="1"/>
          </p:cNvSpPr>
          <p:nvPr/>
        </p:nvSpPr>
        <p:spPr>
          <a:xfrm xmlns:a="http://schemas.openxmlformats.org/drawingml/2006/main">
            <a:off x="609600" y="2524125"/>
            <a:ext cx="2571750"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7" name="">
            <a:extLst xmlns:a="http://schemas.openxmlformats.org/drawingml/2006/main">
              <a:ext uri="{FF2B5EF4-FFF2-40B4-BE49-F238E27FC236}">
                <a16:creationId xmlns:a16="http://schemas.microsoft.com/office/drawing/2014/main" id="{ADA4B56A-2EA4-45F7-8F2E-DBD2F28094C5}"/>
              </a:ext>
            </a:extLst>
          </p:cNvPr>
          <p:cNvSpPr>
            <a:spLocks xmlns:a="http://schemas.openxmlformats.org/drawingml/2006/main" noGrp="1"/>
          </p:cNvSpPr>
          <p:nvPr/>
        </p:nvSpPr>
        <p:spPr>
          <a:xfrm xmlns:a="http://schemas.openxmlformats.org/drawingml/2006/main">
            <a:off x="781050" y="2667000"/>
            <a:ext cx="2228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Workstation</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Edit and commit</a:t>
            </a:r>
          </a:p>
        </p:txBody>
      </p:sp>
      <p:sp>
        <p:nvSpPr>
          <p:cNvPr id="8" name="">
            <a:extLst xmlns:a="http://schemas.openxmlformats.org/drawingml/2006/main">
              <a:ext uri="{FF2B5EF4-FFF2-40B4-BE49-F238E27FC236}">
                <a16:creationId xmlns:a16="http://schemas.microsoft.com/office/drawing/2014/main" id="{068F185B-985C-4BF3-9367-BE9AD6FF0AF4}"/>
              </a:ext>
            </a:extLst>
          </p:cNvPr>
          <p:cNvSpPr>
            <a:spLocks xmlns:a="http://schemas.openxmlformats.org/drawingml/2006/main" noGrp="1"/>
          </p:cNvSpPr>
          <p:nvPr/>
        </p:nvSpPr>
        <p:spPr>
          <a:xfrm xmlns:a="http://schemas.openxmlformats.org/drawingml/2006/main">
            <a:off x="4676775" y="2524125"/>
            <a:ext cx="2571750"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9" name="">
            <a:extLst xmlns:a="http://schemas.openxmlformats.org/drawingml/2006/main">
              <a:ext uri="{FF2B5EF4-FFF2-40B4-BE49-F238E27FC236}">
                <a16:creationId xmlns:a16="http://schemas.microsoft.com/office/drawing/2014/main" id="{38949DC8-939A-423D-A8BA-D29A2BD51120}"/>
              </a:ext>
            </a:extLst>
          </p:cNvPr>
          <p:cNvSpPr>
            <a:spLocks xmlns:a="http://schemas.openxmlformats.org/drawingml/2006/main" noGrp="1"/>
          </p:cNvSpPr>
          <p:nvPr/>
        </p:nvSpPr>
        <p:spPr>
          <a:xfrm xmlns:a="http://schemas.openxmlformats.org/drawingml/2006/main">
            <a:off x="4848225" y="2667000"/>
            <a:ext cx="2228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Private GitHub</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Push commit</a:t>
            </a:r>
          </a:p>
        </p:txBody>
      </p:sp>
      <p:sp>
        <p:nvSpPr>
          <p:cNvPr id="10" name="">
            <a:extLst xmlns:a="http://schemas.openxmlformats.org/drawingml/2006/main">
              <a:ext uri="{FF2B5EF4-FFF2-40B4-BE49-F238E27FC236}">
                <a16:creationId xmlns:a16="http://schemas.microsoft.com/office/drawing/2014/main" id="{E6440A28-EE34-47F5-9FFE-D9A39117340B}"/>
              </a:ext>
            </a:extLst>
          </p:cNvPr>
          <p:cNvSpPr>
            <a:spLocks xmlns:a="http://schemas.openxmlformats.org/drawingml/2006/main" noGrp="1"/>
          </p:cNvSpPr>
          <p:nvPr/>
        </p:nvSpPr>
        <p:spPr>
          <a:xfrm xmlns:a="http://schemas.openxmlformats.org/drawingml/2006/main">
            <a:off x="8743950" y="2524125"/>
            <a:ext cx="2762250" cy="1047750"/>
          </a:xfrm>
          <a:prstGeom xmlns:a="http://schemas.openxmlformats.org/drawingml/2006/main" prst="rect">
            <a:avLst/>
          </a:prstGeom>
          <a:solidFill xmlns:a="http://schemas.openxmlformats.org/drawingml/2006/main">
            <a:srgbClr val="EE0000"/>
          </a:solidFill>
          <a:ln xmlns:a="http://schemas.openxmlformats.org/drawingml/2006/main" w="9525">
            <a:solidFill>
              <a:srgbClr val="EE0000"/>
            </a:solidFill>
          </a:ln>
        </p:spPr>
      </p:sp>
      <p:sp>
        <p:nvSpPr>
          <p:cNvPr id="11" name="">
            <a:extLst xmlns:a="http://schemas.openxmlformats.org/drawingml/2006/main">
              <a:ext uri="{FF2B5EF4-FFF2-40B4-BE49-F238E27FC236}">
                <a16:creationId xmlns:a16="http://schemas.microsoft.com/office/drawing/2014/main" id="{C8D1AAF4-77CB-4FDA-B5AB-407A9DF303AC}"/>
              </a:ext>
            </a:extLst>
          </p:cNvPr>
          <p:cNvSpPr>
            <a:spLocks xmlns:a="http://schemas.openxmlformats.org/drawingml/2006/main" noGrp="1"/>
          </p:cNvSpPr>
          <p:nvPr/>
        </p:nvSpPr>
        <p:spPr>
          <a:xfrm xmlns:a="http://schemas.openxmlformats.org/drawingml/2006/main">
            <a:off x="8915400" y="2667000"/>
            <a:ext cx="2419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Linux test host</a:t>
            </a:r>
          </a:p>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Pull same commit</a:t>
            </a:r>
          </a:p>
        </p:txBody>
      </p:sp>
      <p:cxnSp>
        <p:nvCxnSpPr>
          <p:cNvPr id="35" name=""/>
          <p:cNvCxnSpPr>
            <a:stCxn xmlns:a="http://schemas.openxmlformats.org/drawingml/2006/main" id="6" idx="3"/>
            <a:endCxn xmlns:a="http://schemas.openxmlformats.org/drawingml/2006/main" id="8" idx="1"/>
          </p:cNvCxnSpPr>
          <p:nvPr/>
        </p:nvCxnSpPr>
        <p:spPr>
          <a:xfrm xmlns:a="http://schemas.openxmlformats.org/drawingml/2006/main">
            <a:off x="3181350" y="3048000"/>
            <a:ext cx="1495425" cy="0"/>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6" name=""/>
          <p:cNvCxnSpPr>
            <a:stCxn xmlns:a="http://schemas.openxmlformats.org/drawingml/2006/main" id="8" idx="3"/>
            <a:endCxn xmlns:a="http://schemas.openxmlformats.org/drawingml/2006/main" id="10" idx="1"/>
          </p:cNvCxnSpPr>
          <p:nvPr/>
        </p:nvCxnSpPr>
        <p:spPr>
          <a:xfrm xmlns:a="http://schemas.openxmlformats.org/drawingml/2006/main">
            <a:off x="7248525" y="3048000"/>
            <a:ext cx="1495425" cy="0"/>
          </a:xfrm>
          <a:prstGeom xmlns:a="http://schemas.openxmlformats.org/drawingml/2006/main" prst="straightConnector1">
            <a:avLst/>
          </a:prstGeom>
          <a:ln xmlns:a="http://schemas.openxmlformats.org/drawingml/2006/main" w="28575">
            <a:solidFill>
              <a:srgbClr val="EE0000"/>
            </a:solidFill>
            <a:tailEnd type="triangle" w="med" len="med"/>
          </a:ln>
        </p:spPr>
      </p:cxnSp>
      <p:sp>
        <p:nvSpPr>
          <p:cNvPr id="14" name="">
            <a:extLst xmlns:a="http://schemas.openxmlformats.org/drawingml/2006/main">
              <a:ext uri="{FF2B5EF4-FFF2-40B4-BE49-F238E27FC236}">
                <a16:creationId xmlns:a16="http://schemas.microsoft.com/office/drawing/2014/main" id="{52E8FE8A-425B-457E-8DBE-E612DAC56EAE}"/>
              </a:ext>
            </a:extLst>
          </p:cNvPr>
          <p:cNvSpPr>
            <a:spLocks xmlns:a="http://schemas.openxmlformats.org/drawingml/2006/main" noGrp="1"/>
          </p:cNvSpPr>
          <p:nvPr/>
        </p:nvSpPr>
        <p:spPr>
          <a:xfrm xmlns:a="http://schemas.openxmlformats.org/drawingml/2006/main">
            <a:off x="609600" y="4572000"/>
            <a:ext cx="2952750" cy="1000125"/>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5" name="">
            <a:extLst xmlns:a="http://schemas.openxmlformats.org/drawingml/2006/main">
              <a:ext uri="{FF2B5EF4-FFF2-40B4-BE49-F238E27FC236}">
                <a16:creationId xmlns:a16="http://schemas.microsoft.com/office/drawing/2014/main" id="{53AD4636-AB2D-4065-8D24-403605C1A9F6}"/>
              </a:ext>
            </a:extLst>
          </p:cNvPr>
          <p:cNvSpPr>
            <a:spLocks xmlns:a="http://schemas.openxmlformats.org/drawingml/2006/main" noGrp="1"/>
          </p:cNvSpPr>
          <p:nvPr/>
        </p:nvSpPr>
        <p:spPr>
          <a:xfrm xmlns:a="http://schemas.openxmlformats.org/drawingml/2006/main">
            <a:off x="781050" y="47148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Rust tests</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Strict Clippy</a:t>
            </a:r>
          </a:p>
        </p:txBody>
      </p:sp>
      <p:sp>
        <p:nvSpPr>
          <p:cNvPr id="16" name="">
            <a:extLst xmlns:a="http://schemas.openxmlformats.org/drawingml/2006/main">
              <a:ext uri="{FF2B5EF4-FFF2-40B4-BE49-F238E27FC236}">
                <a16:creationId xmlns:a16="http://schemas.microsoft.com/office/drawing/2014/main" id="{C51D7D29-80FD-48CD-BC71-CC650FD1BD39}"/>
              </a:ext>
            </a:extLst>
          </p:cNvPr>
          <p:cNvSpPr>
            <a:spLocks xmlns:a="http://schemas.openxmlformats.org/drawingml/2006/main" noGrp="1"/>
          </p:cNvSpPr>
          <p:nvPr/>
        </p:nvSpPr>
        <p:spPr>
          <a:xfrm xmlns:a="http://schemas.openxmlformats.org/drawingml/2006/main">
            <a:off x="4524375" y="4572000"/>
            <a:ext cx="3143250" cy="1000125"/>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7" name="">
            <a:extLst xmlns:a="http://schemas.openxmlformats.org/drawingml/2006/main">
              <a:ext uri="{FF2B5EF4-FFF2-40B4-BE49-F238E27FC236}">
                <a16:creationId xmlns:a16="http://schemas.microsoft.com/office/drawing/2014/main" id="{39B7D15A-6623-4D1D-A875-1A2DB5E70CF8}"/>
              </a:ext>
            </a:extLst>
          </p:cNvPr>
          <p:cNvSpPr>
            <a:spLocks xmlns:a="http://schemas.openxmlformats.org/drawingml/2006/main" noGrp="1"/>
          </p:cNvSpPr>
          <p:nvPr/>
        </p:nvSpPr>
        <p:spPr>
          <a:xfrm xmlns:a="http://schemas.openxmlformats.org/drawingml/2006/main">
            <a:off x="4695825" y="4714875"/>
            <a:ext cx="2800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Release WASM</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Node and Chromium</a:t>
            </a:r>
          </a:p>
        </p:txBody>
      </p:sp>
      <p:sp>
        <p:nvSpPr>
          <p:cNvPr id="18" name="">
            <a:extLst xmlns:a="http://schemas.openxmlformats.org/drawingml/2006/main">
              <a:ext uri="{FF2B5EF4-FFF2-40B4-BE49-F238E27FC236}">
                <a16:creationId xmlns:a16="http://schemas.microsoft.com/office/drawing/2014/main" id="{2E21EACB-4098-4135-A6BE-01DF2DC3C6A6}"/>
              </a:ext>
            </a:extLst>
          </p:cNvPr>
          <p:cNvSpPr>
            <a:spLocks xmlns:a="http://schemas.openxmlformats.org/drawingml/2006/main" noGrp="1"/>
          </p:cNvSpPr>
          <p:nvPr/>
        </p:nvSpPr>
        <p:spPr>
          <a:xfrm xmlns:a="http://schemas.openxmlformats.org/drawingml/2006/main">
            <a:off x="8515350" y="4572000"/>
            <a:ext cx="2990850" cy="1000125"/>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9" name="">
            <a:extLst xmlns:a="http://schemas.openxmlformats.org/drawingml/2006/main">
              <a:ext uri="{FF2B5EF4-FFF2-40B4-BE49-F238E27FC236}">
                <a16:creationId xmlns:a16="http://schemas.microsoft.com/office/drawing/2014/main" id="{07FDF6D9-570E-49A8-87EA-3661A1AE1F80}"/>
              </a:ext>
            </a:extLst>
          </p:cNvPr>
          <p:cNvSpPr>
            <a:spLocks xmlns:a="http://schemas.openxmlformats.org/drawingml/2006/main" noGrp="1"/>
          </p:cNvSpPr>
          <p:nvPr/>
        </p:nvSpPr>
        <p:spPr>
          <a:xfrm xmlns:a="http://schemas.openxmlformats.org/drawingml/2006/main">
            <a:off x="8686800" y="4714875"/>
            <a:ext cx="2647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Fixtures and fuzz</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Native X11 harness</a:t>
            </a:r>
          </a:p>
        </p:txBody>
      </p:sp>
      <p:cxnSp>
        <p:nvCxnSpPr>
          <p:cNvPr id="43" name=""/>
          <p:cNvCxnSpPr>
            <a:stCxn xmlns:a="http://schemas.openxmlformats.org/drawingml/2006/main" id="10" idx="2"/>
            <a:endCxn xmlns:a="http://schemas.openxmlformats.org/drawingml/2006/main" id="18" idx="0"/>
          </p:cNvCxnSpPr>
          <p:nvPr/>
        </p:nvCxnSpPr>
        <p:spPr>
          <a:xfrm xmlns:a="http://schemas.openxmlformats.org/drawingml/2006/main" flipH="1">
            <a:off x="10010775" y="3571875"/>
            <a:ext cx="114300" cy="1000125"/>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44" name=""/>
          <p:cNvCxnSpPr>
            <a:stCxn xmlns:a="http://schemas.openxmlformats.org/drawingml/2006/main" id="10" idx="2"/>
            <a:endCxn xmlns:a="http://schemas.openxmlformats.org/drawingml/2006/main" id="16" idx="0"/>
          </p:cNvCxnSpPr>
          <p:nvPr/>
        </p:nvCxnSpPr>
        <p:spPr>
          <a:xfrm xmlns:a="http://schemas.openxmlformats.org/drawingml/2006/main" flipH="1">
            <a:off x="6096000" y="3571875"/>
            <a:ext cx="4029075" cy="1000125"/>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45" name=""/>
          <p:cNvCxnSpPr>
            <a:stCxn xmlns:a="http://schemas.openxmlformats.org/drawingml/2006/main" id="10" idx="2"/>
            <a:endCxn xmlns:a="http://schemas.openxmlformats.org/drawingml/2006/main" id="14" idx="0"/>
          </p:cNvCxnSpPr>
          <p:nvPr/>
        </p:nvCxnSpPr>
        <p:spPr>
          <a:xfrm xmlns:a="http://schemas.openxmlformats.org/drawingml/2006/main" flipH="1">
            <a:off x="2085975" y="3571875"/>
            <a:ext cx="8039100" cy="1000125"/>
          </a:xfrm>
          <a:prstGeom xmlns:a="http://schemas.openxmlformats.org/drawingml/2006/main" prst="straightConnector1">
            <a:avLst/>
          </a:prstGeom>
          <a:ln xmlns:a="http://schemas.openxmlformats.org/drawingml/2006/main" w="28575">
            <a:solidFill>
              <a:srgbClr val="EE0000"/>
            </a:solidFill>
            <a:tailEnd type="triangle" w="med" len="med"/>
          </a:ln>
        </p:spPr>
      </p:cxnSp>
      <p:sp>
        <p:nvSpPr>
          <p:cNvPr id="23" name="">
            <a:extLst xmlns:a="http://schemas.openxmlformats.org/drawingml/2006/main">
              <a:ext uri="{FF2B5EF4-FFF2-40B4-BE49-F238E27FC236}">
                <a16:creationId xmlns:a16="http://schemas.microsoft.com/office/drawing/2014/main" id="{95DC9605-58B6-4D7A-B855-2942A59C8B9F}"/>
              </a:ext>
            </a:extLst>
          </p:cNvPr>
          <p:cNvSpPr>
            <a:spLocks xmlns:a="http://schemas.openxmlformats.org/drawingml/2006/main" noGrp="1"/>
          </p:cNvSpPr>
          <p:nvPr/>
        </p:nvSpPr>
        <p:spPr>
          <a:xfrm xmlns:a="http://schemas.openxmlformats.org/drawingml/2006/main">
            <a:off x="609600" y="58674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Failures were fixed in commits and tested after the next push and pull.</a:t>
            </a:r>
          </a:p>
        </p:txBody>
      </p:sp>
    </p:spTree>
    <p:extLst>
      <p:ext uri="{BB962C8B-B14F-4D97-AF65-F5344CB8AC3E}">
        <p14:creationId xmlns:p14="http://schemas.microsoft.com/office/powerpoint/2010/main" val="18122297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B12A829-0088-4DDC-82D6-1D4B85727FB9}"/>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3C5C1330-6864-4EBE-843E-56BA1C34243D}"/>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Independent pixel oracles checked correctness</a:t>
            </a:r>
          </a:p>
        </p:txBody>
      </p:sp>
      <p:sp>
        <p:nvSpPr>
          <p:cNvPr id="3" name="">
            <a:extLst xmlns:a="http://schemas.openxmlformats.org/drawingml/2006/main">
              <a:ext uri="{FF2B5EF4-FFF2-40B4-BE49-F238E27FC236}">
                <a16:creationId xmlns:a16="http://schemas.microsoft.com/office/drawing/2014/main" id="{44DF78BE-1F8A-46DB-A904-078F307B4DEC}"/>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A shared encoder and decoder can agree on the same mistake.</a:t>
            </a:r>
          </a:p>
        </p:txBody>
      </p:sp>
      <p:sp>
        <p:nvSpPr>
          <p:cNvPr id="4" name="">
            <a:extLst xmlns:a="http://schemas.openxmlformats.org/drawingml/2006/main">
              <a:ext uri="{FF2B5EF4-FFF2-40B4-BE49-F238E27FC236}">
                <a16:creationId xmlns:a16="http://schemas.microsoft.com/office/drawing/2014/main" id="{E3CE01DE-0F9E-44FD-AE38-5460F0651CBA}"/>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4C35B9D6-68C5-4E49-A4ED-58627BC0F469}"/>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A665F659-AF2F-4471-A1D2-4DDDCA37902F}"/>
              </a:ext>
            </a:extLst>
          </p:cNvPr>
          <p:cNvSpPr>
            <a:spLocks xmlns:a="http://schemas.openxmlformats.org/drawingml/2006/main" noGrp="1"/>
          </p:cNvSpPr>
          <p:nvPr/>
        </p:nvSpPr>
        <p:spPr>
          <a:xfrm xmlns:a="http://schemas.openxmlformats.org/drawingml/2006/main">
            <a:off x="609600" y="3048000"/>
            <a:ext cx="2857500" cy="106680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7" name="">
            <a:extLst xmlns:a="http://schemas.openxmlformats.org/drawingml/2006/main">
              <a:ext uri="{FF2B5EF4-FFF2-40B4-BE49-F238E27FC236}">
                <a16:creationId xmlns:a16="http://schemas.microsoft.com/office/drawing/2014/main" id="{6ECACAF8-8C76-4AA5-91C8-1668F8F90AEE}"/>
              </a:ext>
            </a:extLst>
          </p:cNvPr>
          <p:cNvSpPr>
            <a:spLocks xmlns:a="http://schemas.openxmlformats.org/drawingml/2006/main" noGrp="1"/>
          </p:cNvSpPr>
          <p:nvPr/>
        </p:nvSpPr>
        <p:spPr>
          <a:xfrm xmlns:a="http://schemas.openxmlformats.org/drawingml/2006/main">
            <a:off x="781050" y="3190875"/>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Disposable QEMU</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or TigerVNC server</a:t>
            </a:r>
          </a:p>
        </p:txBody>
      </p:sp>
      <p:sp>
        <p:nvSpPr>
          <p:cNvPr id="8" name="">
            <a:extLst xmlns:a="http://schemas.openxmlformats.org/drawingml/2006/main">
              <a:ext uri="{FF2B5EF4-FFF2-40B4-BE49-F238E27FC236}">
                <a16:creationId xmlns:a16="http://schemas.microsoft.com/office/drawing/2014/main" id="{9FD6EB9F-8BC7-4A76-8571-95062CACFE87}"/>
              </a:ext>
            </a:extLst>
          </p:cNvPr>
          <p:cNvSpPr>
            <a:spLocks xmlns:a="http://schemas.openxmlformats.org/drawingml/2006/main" noGrp="1"/>
          </p:cNvSpPr>
          <p:nvPr/>
        </p:nvSpPr>
        <p:spPr>
          <a:xfrm xmlns:a="http://schemas.openxmlformats.org/drawingml/2006/main">
            <a:off x="4714875" y="2428875"/>
            <a:ext cx="2762250" cy="95250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9" name="">
            <a:extLst xmlns:a="http://schemas.openxmlformats.org/drawingml/2006/main">
              <a:ext uri="{FF2B5EF4-FFF2-40B4-BE49-F238E27FC236}">
                <a16:creationId xmlns:a16="http://schemas.microsoft.com/office/drawing/2014/main" id="{3FE3135A-F724-426A-AB96-0BBAAE40130D}"/>
              </a:ext>
            </a:extLst>
          </p:cNvPr>
          <p:cNvSpPr>
            <a:spLocks xmlns:a="http://schemas.openxmlformats.org/drawingml/2006/main" noGrp="1"/>
          </p:cNvSpPr>
          <p:nvPr/>
        </p:nvSpPr>
        <p:spPr>
          <a:xfrm xmlns:a="http://schemas.openxmlformats.org/drawingml/2006/main">
            <a:off x="4886325" y="2571750"/>
            <a:ext cx="2419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Recorded</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RFB updates</a:t>
            </a:r>
          </a:p>
        </p:txBody>
      </p:sp>
      <p:sp>
        <p:nvSpPr>
          <p:cNvPr id="10" name="">
            <a:extLst xmlns:a="http://schemas.openxmlformats.org/drawingml/2006/main">
              <a:ext uri="{FF2B5EF4-FFF2-40B4-BE49-F238E27FC236}">
                <a16:creationId xmlns:a16="http://schemas.microsoft.com/office/drawing/2014/main" id="{F742441F-7A5B-4839-A100-169DA25B857A}"/>
              </a:ext>
            </a:extLst>
          </p:cNvPr>
          <p:cNvSpPr>
            <a:spLocks xmlns:a="http://schemas.openxmlformats.org/drawingml/2006/main" noGrp="1"/>
          </p:cNvSpPr>
          <p:nvPr/>
        </p:nvSpPr>
        <p:spPr>
          <a:xfrm xmlns:a="http://schemas.openxmlformats.org/drawingml/2006/main">
            <a:off x="4714875" y="4438650"/>
            <a:ext cx="2762250" cy="95250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1" name="">
            <a:extLst xmlns:a="http://schemas.openxmlformats.org/drawingml/2006/main">
              <a:ext uri="{FF2B5EF4-FFF2-40B4-BE49-F238E27FC236}">
                <a16:creationId xmlns:a16="http://schemas.microsoft.com/office/drawing/2014/main" id="{60DA7383-6398-4B82-9540-361336D9ACF6}"/>
              </a:ext>
            </a:extLst>
          </p:cNvPr>
          <p:cNvSpPr>
            <a:spLocks xmlns:a="http://schemas.openxmlformats.org/drawingml/2006/main" noGrp="1"/>
          </p:cNvSpPr>
          <p:nvPr/>
        </p:nvSpPr>
        <p:spPr>
          <a:xfrm xmlns:a="http://schemas.openxmlformats.org/drawingml/2006/main">
            <a:off x="4886325" y="4581525"/>
            <a:ext cx="2419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QMP screendump</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or XGetImage</a:t>
            </a:r>
          </a:p>
        </p:txBody>
      </p:sp>
      <p:sp>
        <p:nvSpPr>
          <p:cNvPr id="12" name="">
            <a:extLst xmlns:a="http://schemas.openxmlformats.org/drawingml/2006/main">
              <a:ext uri="{FF2B5EF4-FFF2-40B4-BE49-F238E27FC236}">
                <a16:creationId xmlns:a16="http://schemas.microsoft.com/office/drawing/2014/main" id="{442BFE81-93FB-4DFC-BB02-1E896633DD8F}"/>
              </a:ext>
            </a:extLst>
          </p:cNvPr>
          <p:cNvSpPr>
            <a:spLocks xmlns:a="http://schemas.openxmlformats.org/drawingml/2006/main" noGrp="1"/>
          </p:cNvSpPr>
          <p:nvPr/>
        </p:nvSpPr>
        <p:spPr>
          <a:xfrm xmlns:a="http://schemas.openxmlformats.org/drawingml/2006/main">
            <a:off x="8572500" y="2428875"/>
            <a:ext cx="2952750" cy="1047750"/>
          </a:xfrm>
          <a:prstGeom xmlns:a="http://schemas.openxmlformats.org/drawingml/2006/main" prst="rect">
            <a:avLst/>
          </a:prstGeom>
          <a:solidFill xmlns:a="http://schemas.openxmlformats.org/drawingml/2006/main">
            <a:srgbClr val="F3F3F3"/>
          </a:solidFill>
          <a:ln xmlns:a="http://schemas.openxmlformats.org/drawingml/2006/main" w="9525">
            <a:solidFill>
              <a:srgbClr val="A0A0A0"/>
            </a:solidFill>
          </a:ln>
        </p:spPr>
      </p:sp>
      <p:sp>
        <p:nvSpPr>
          <p:cNvPr id="13" name="">
            <a:extLst xmlns:a="http://schemas.openxmlformats.org/drawingml/2006/main">
              <a:ext uri="{FF2B5EF4-FFF2-40B4-BE49-F238E27FC236}">
                <a16:creationId xmlns:a16="http://schemas.microsoft.com/office/drawing/2014/main" id="{58C00020-CF13-4EC1-9477-0BF7B83499B5}"/>
              </a:ext>
            </a:extLst>
          </p:cNvPr>
          <p:cNvSpPr>
            <a:spLocks xmlns:a="http://schemas.openxmlformats.org/drawingml/2006/main" noGrp="1"/>
          </p:cNvSpPr>
          <p:nvPr/>
        </p:nvSpPr>
        <p:spPr>
          <a:xfrm xmlns:a="http://schemas.openxmlformats.org/drawingml/2006/main">
            <a:off x="8743950" y="2571750"/>
            <a:ext cx="2609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stormrfb / noVNC</a:t>
            </a:r>
          </a:p>
          <a:p xmlns:a="http://schemas.openxmlformats.org/drawingml/2006/main">
            <a:pPr>
              <a:defRPr sz="1875" b="1">
                <a:solidFill>
                  <a:srgbClr val="151515"/>
                </a:solidFill>
                <a:latin typeface="Helvetica Neue"/>
                <a:ea typeface="Helvetica Neue"/>
                <a:cs typeface="Helvetica Neue"/>
              </a:defRPr>
            </a:pPr>
            <a:r>
              <a:rPr sz="1875" b="1">
                <a:solidFill>
                  <a:srgbClr val="151515"/>
                </a:solidFill>
                <a:latin typeface="Helvetica Neue"/>
                <a:ea typeface="Helvetica Neue"/>
                <a:cs typeface="Helvetica Neue"/>
              </a:rPr>
              <a:t>Decoded pixels</a:t>
            </a:r>
          </a:p>
        </p:txBody>
      </p:sp>
      <p:sp>
        <p:nvSpPr>
          <p:cNvPr id="14" name="">
            <a:extLst xmlns:a="http://schemas.openxmlformats.org/drawingml/2006/main">
              <a:ext uri="{FF2B5EF4-FFF2-40B4-BE49-F238E27FC236}">
                <a16:creationId xmlns:a16="http://schemas.microsoft.com/office/drawing/2014/main" id="{6B8F53DE-DDA9-4741-9B26-3CD45446B14F}"/>
              </a:ext>
            </a:extLst>
          </p:cNvPr>
          <p:cNvSpPr>
            <a:spLocks xmlns:a="http://schemas.openxmlformats.org/drawingml/2006/main" noGrp="1"/>
          </p:cNvSpPr>
          <p:nvPr/>
        </p:nvSpPr>
        <p:spPr>
          <a:xfrm xmlns:a="http://schemas.openxmlformats.org/drawingml/2006/main">
            <a:off x="8572500" y="4438650"/>
            <a:ext cx="2952750" cy="952500"/>
          </a:xfrm>
          <a:prstGeom xmlns:a="http://schemas.openxmlformats.org/drawingml/2006/main" prst="rect">
            <a:avLst/>
          </a:prstGeom>
          <a:solidFill xmlns:a="http://schemas.openxmlformats.org/drawingml/2006/main">
            <a:srgbClr val="EE0000"/>
          </a:solidFill>
          <a:ln xmlns:a="http://schemas.openxmlformats.org/drawingml/2006/main" w="9525">
            <a:solidFill>
              <a:srgbClr val="EE0000"/>
            </a:solidFill>
          </a:ln>
        </p:spPr>
      </p:sp>
      <p:sp>
        <p:nvSpPr>
          <p:cNvPr id="15" name="">
            <a:extLst xmlns:a="http://schemas.openxmlformats.org/drawingml/2006/main">
              <a:ext uri="{FF2B5EF4-FFF2-40B4-BE49-F238E27FC236}">
                <a16:creationId xmlns:a16="http://schemas.microsoft.com/office/drawing/2014/main" id="{FE0C525D-3104-4EB9-ADB3-47906868C3C0}"/>
              </a:ext>
            </a:extLst>
          </p:cNvPr>
          <p:cNvSpPr>
            <a:spLocks xmlns:a="http://schemas.openxmlformats.org/drawingml/2006/main" noGrp="1"/>
          </p:cNvSpPr>
          <p:nvPr/>
        </p:nvSpPr>
        <p:spPr>
          <a:xfrm xmlns:a="http://schemas.openxmlformats.org/drawingml/2006/main">
            <a:off x="8743950" y="4581525"/>
            <a:ext cx="2609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Exact framebuffer</a:t>
            </a:r>
          </a:p>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hash comparison</a:t>
            </a:r>
          </a:p>
        </p:txBody>
      </p:sp>
      <p:cxnSp>
        <p:nvCxnSpPr>
          <p:cNvPr id="37" name=""/>
          <p:cNvCxnSpPr>
            <a:stCxn xmlns:a="http://schemas.openxmlformats.org/drawingml/2006/main" id="6" idx="3"/>
            <a:endCxn xmlns:a="http://schemas.openxmlformats.org/drawingml/2006/main" id="8" idx="1"/>
          </p:cNvCxnSpPr>
          <p:nvPr/>
        </p:nvCxnSpPr>
        <p:spPr>
          <a:xfrm xmlns:a="http://schemas.openxmlformats.org/drawingml/2006/main" flipV="1">
            <a:off x="3467100" y="2905125"/>
            <a:ext cx="1247775" cy="676275"/>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8" name=""/>
          <p:cNvCxnSpPr>
            <a:stCxn xmlns:a="http://schemas.openxmlformats.org/drawingml/2006/main" id="6" idx="3"/>
            <a:endCxn xmlns:a="http://schemas.openxmlformats.org/drawingml/2006/main" id="10" idx="1"/>
          </p:cNvCxnSpPr>
          <p:nvPr/>
        </p:nvCxnSpPr>
        <p:spPr>
          <a:xfrm xmlns:a="http://schemas.openxmlformats.org/drawingml/2006/main">
            <a:off x="3467100" y="3581400"/>
            <a:ext cx="1247775" cy="1333500"/>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39" name=""/>
          <p:cNvCxnSpPr>
            <a:stCxn xmlns:a="http://schemas.openxmlformats.org/drawingml/2006/main" id="8" idx="3"/>
            <a:endCxn xmlns:a="http://schemas.openxmlformats.org/drawingml/2006/main" id="12" idx="1"/>
          </p:cNvCxnSpPr>
          <p:nvPr/>
        </p:nvCxnSpPr>
        <p:spPr>
          <a:xfrm xmlns:a="http://schemas.openxmlformats.org/drawingml/2006/main">
            <a:off x="7477125" y="2905125"/>
            <a:ext cx="1095375" cy="47625"/>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40" name=""/>
          <p:cNvCxnSpPr>
            <a:stCxn xmlns:a="http://schemas.openxmlformats.org/drawingml/2006/main" id="10" idx="3"/>
            <a:endCxn xmlns:a="http://schemas.openxmlformats.org/drawingml/2006/main" id="14" idx="1"/>
          </p:cNvCxnSpPr>
          <p:nvPr/>
        </p:nvCxnSpPr>
        <p:spPr>
          <a:xfrm xmlns:a="http://schemas.openxmlformats.org/drawingml/2006/main">
            <a:off x="7477125" y="4914900"/>
            <a:ext cx="1095375" cy="0"/>
          </a:xfrm>
          <a:prstGeom xmlns:a="http://schemas.openxmlformats.org/drawingml/2006/main" prst="straightConnector1">
            <a:avLst/>
          </a:prstGeom>
          <a:ln xmlns:a="http://schemas.openxmlformats.org/drawingml/2006/main" w="28575">
            <a:solidFill>
              <a:srgbClr val="EE0000"/>
            </a:solidFill>
            <a:tailEnd type="triangle" w="med" len="med"/>
          </a:ln>
        </p:spPr>
      </p:cxnSp>
      <p:cxnSp>
        <p:nvCxnSpPr>
          <p:cNvPr id="41" name=""/>
          <p:cNvCxnSpPr>
            <a:stCxn xmlns:a="http://schemas.openxmlformats.org/drawingml/2006/main" id="12" idx="2"/>
            <a:endCxn xmlns:a="http://schemas.openxmlformats.org/drawingml/2006/main" id="14" idx="0"/>
          </p:cNvCxnSpPr>
          <p:nvPr/>
        </p:nvCxnSpPr>
        <p:spPr>
          <a:xfrm xmlns:a="http://schemas.openxmlformats.org/drawingml/2006/main">
            <a:off x="10048875" y="3476625"/>
            <a:ext cx="0" cy="962025"/>
          </a:xfrm>
          <a:prstGeom xmlns:a="http://schemas.openxmlformats.org/drawingml/2006/main" prst="straightConnector1">
            <a:avLst/>
          </a:prstGeom>
          <a:ln xmlns:a="http://schemas.openxmlformats.org/drawingml/2006/main" w="28575">
            <a:solidFill>
              <a:srgbClr val="EE0000"/>
            </a:solidFill>
            <a:tailEnd type="triangle" w="med" len="med"/>
          </a:ln>
        </p:spPr>
      </p:cxnSp>
      <p:sp>
        <p:nvSpPr>
          <p:cNvPr id="21" name="">
            <a:extLst xmlns:a="http://schemas.openxmlformats.org/drawingml/2006/main">
              <a:ext uri="{FF2B5EF4-FFF2-40B4-BE49-F238E27FC236}">
                <a16:creationId xmlns:a16="http://schemas.microsoft.com/office/drawing/2014/main" id="{6C8D7918-0AD0-4F64-92DF-361EB8827E8C}"/>
              </a:ext>
            </a:extLst>
          </p:cNvPr>
          <p:cNvSpPr>
            <a:spLocks xmlns:a="http://schemas.openxmlformats.org/drawingml/2006/main" noGrp="1"/>
          </p:cNvSpPr>
          <p:nvPr/>
        </p:nvSpPr>
        <p:spPr>
          <a:xfrm xmlns:a="http://schemas.openxmlformats.org/drawingml/2006/main">
            <a:off x="609600" y="58197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Wire data and reference pixels come through separate capture paths.</a:t>
            </a:r>
          </a:p>
        </p:txBody>
      </p:sp>
    </p:spTree>
    <p:extLst>
      <p:ext uri="{BB962C8B-B14F-4D97-AF65-F5344CB8AC3E}">
        <p14:creationId xmlns:p14="http://schemas.microsoft.com/office/powerpoint/2010/main" val="6990604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311EEE-B798-4600-BCF9-5D25018A1AD5}"/>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3E7AD017-BF71-4361-9F48-FF090091A0F4}"/>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Tests covered protocol, runtime and hostile input</a:t>
            </a:r>
          </a:p>
        </p:txBody>
      </p:sp>
      <p:sp>
        <p:nvSpPr>
          <p:cNvPr id="3" name="">
            <a:extLst xmlns:a="http://schemas.openxmlformats.org/drawingml/2006/main">
              <a:ext uri="{FF2B5EF4-FFF2-40B4-BE49-F238E27FC236}">
                <a16:creationId xmlns:a16="http://schemas.microsoft.com/office/drawing/2014/main" id="{E7FC4F22-C2BA-4745-A139-01B584ED37E3}"/>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Validation covered these layers on 9 September 2026.</a:t>
            </a:r>
          </a:p>
        </p:txBody>
      </p:sp>
      <p:sp>
        <p:nvSpPr>
          <p:cNvPr id="4" name="">
            <a:extLst xmlns:a="http://schemas.openxmlformats.org/drawingml/2006/main">
              <a:ext uri="{FF2B5EF4-FFF2-40B4-BE49-F238E27FC236}">
                <a16:creationId xmlns:a16="http://schemas.microsoft.com/office/drawing/2014/main" id="{8E6DFB9E-90FC-4924-A97C-16251A6E38E8}"/>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B05E166F-8DBD-4262-A46E-77DB5D1C1699}"/>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11</a:t>
            </a:r>
          </a:p>
        </p:txBody>
      </p:sp>
      <p:graphicFrame>
        <p:nvGraphicFramePr>
          <p:cNvPr id="13" name=""/>
          <p:cNvGraphicFramePr/>
          <p:nvPr/>
        </p:nvGraphicFramePr>
        <p:xfrm>
          <a:off xmlns:a="http://schemas.openxmlformats.org/drawingml/2006/main" x="609600" y="2286000"/>
          <a:ext xmlns:a="http://schemas.openxmlformats.org/drawingml/2006/main" cx="10972800" cy="3333750"/>
        </p:xfrm>
        <a:graphic xmlns:a="http://schemas.openxmlformats.org/drawingml/2006/main">
          <a:graphicData uri="http://schemas.openxmlformats.org/drawingml/2006/table">
            <a:tbl>
              <a:tblPr/>
              <a:tblGrid>
                <a:gridCol w="2809875"/>
                <a:gridCol w="5286375"/>
                <a:gridCol w="2876550"/>
              </a:tblGrid>
              <a:tr h="555625">
                <a:tc>
                  <a:txBody>
                    <a:bodyPr/>
                    <a:lstStyle/>
                    <a:p>
                      <a:r>
                        <a:rPr sz="1725" b="1">
                          <a:solidFill>
                            <a:srgbClr val="FFFFFF"/>
                          </a:solidFill>
                          <a:latin typeface="Helvetica Neue"/>
                          <a:ea typeface="Helvetica Neue"/>
                          <a:cs typeface="Helvetica Neue"/>
                        </a:rPr>
                        <a:t>Layer</a:t>
                      </a:r>
                    </a:p>
                  </a:txBody>
                  <a:tcPr marL="91440" marR="91440" marT="45720" marB="45720">
                    <a:solidFill>
                      <a:srgbClr val="151515"/>
                    </a:solidFill>
                  </a:tcPr>
                </a:tc>
                <a:tc>
                  <a:txBody>
                    <a:bodyPr/>
                    <a:lstStyle/>
                    <a:p>
                      <a:r>
                        <a:rPr sz="1725" b="1">
                          <a:solidFill>
                            <a:srgbClr val="FFFFFF"/>
                          </a:solidFill>
                          <a:latin typeface="Helvetica Neue"/>
                          <a:ea typeface="Helvetica Neue"/>
                          <a:cs typeface="Helvetica Neue"/>
                        </a:rPr>
                        <a:t>What was exercised</a:t>
                      </a:r>
                    </a:p>
                  </a:txBody>
                  <a:tcPr marL="91440" marR="91440" marT="45720" marB="45720">
                    <a:solidFill>
                      <a:srgbClr val="151515"/>
                    </a:solidFill>
                  </a:tcPr>
                </a:tc>
                <a:tc>
                  <a:txBody>
                    <a:bodyPr/>
                    <a:lstStyle/>
                    <a:p>
                      <a:r>
                        <a:rPr sz="1725" b="1">
                          <a:solidFill>
                            <a:srgbClr val="FFFFFF"/>
                          </a:solidFill>
                          <a:latin typeface="Helvetica Neue"/>
                          <a:ea typeface="Helvetica Neue"/>
                          <a:cs typeface="Helvetica Neue"/>
                        </a:rPr>
                        <a:t>Result</a:t>
                      </a:r>
                    </a:p>
                  </a:txBody>
                  <a:tcPr marL="91440" marR="91440" marT="45720" marB="45720">
                    <a:solidFill>
                      <a:srgbClr val="151515"/>
                    </a:solidFill>
                  </a:tcPr>
                </a:tc>
              </a:tr>
              <a:tr h="555625">
                <a:tc>
                  <a:txBody>
                    <a:bodyPr/>
                    <a:lstStyle/>
                    <a:p>
                      <a:r>
                        <a:rPr sz="1725" b="0">
                          <a:solidFill>
                            <a:srgbClr val="151515"/>
                          </a:solidFill>
                          <a:latin typeface="Helvetica Neue"/>
                          <a:ea typeface="Helvetica Neue"/>
                          <a:cs typeface="Helvetica Neue"/>
                        </a:rPr>
                        <a:t>Rust and WASM</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Framing, auth, pixels, copy and resize</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25 Rust + 2 Node tests</a:t>
                      </a:r>
                    </a:p>
                  </a:txBody>
                  <a:tcPr marL="91440" marR="91440" marT="45720" marB="45720">
                    <a:solidFill>
                      <a:srgbClr val="FFFFFF"/>
                    </a:solidFill>
                  </a:tcPr>
                </a:tc>
              </a:tr>
              <a:tr h="555625">
                <a:tc>
                  <a:txBody>
                    <a:bodyPr/>
                    <a:lstStyle/>
                    <a:p>
                      <a:r>
                        <a:rPr sz="1725" b="0">
                          <a:solidFill>
                            <a:srgbClr val="151515"/>
                          </a:solidFill>
                          <a:latin typeface="Helvetica Neue"/>
                          <a:ea typeface="Helvetica Neue"/>
                          <a:cs typeface="Helvetica Neue"/>
                        </a:rPr>
                        <a:t>Chromium 153</a:t>
                      </a:r>
                    </a:p>
                  </a:txBody>
                  <a:tcPr marL="91440" marR="91440" marT="45720" marB="45720">
                    <a:solidFill>
                      <a:srgbClr val="F3F3F3"/>
                    </a:solidFill>
                  </a:tcPr>
                </a:tc>
                <a:tc>
                  <a:txBody>
                    <a:bodyPr/>
                    <a:lstStyle/>
                    <a:p>
                      <a:r>
                        <a:rPr sz="1725" b="0">
                          <a:solidFill>
                            <a:srgbClr val="151515"/>
                          </a:solidFill>
                          <a:latin typeface="Helvetica Neue"/>
                          <a:ea typeface="Helvetica Neue"/>
                          <a:cs typeface="Helvetica Neue"/>
                        </a:rPr>
                        <a:t>Canvas pixels, growth, resize, keys and cleanup</a:t>
                      </a:r>
                    </a:p>
                  </a:txBody>
                  <a:tcPr marL="91440" marR="91440" marT="45720" marB="45720">
                    <a:solidFill>
                      <a:srgbClr val="F3F3F3"/>
                    </a:solidFill>
                  </a:tcPr>
                </a:tc>
                <a:tc>
                  <a:txBody>
                    <a:bodyPr/>
                    <a:lstStyle/>
                    <a:p>
                      <a:r>
                        <a:rPr sz="1725" b="0">
                          <a:solidFill>
                            <a:srgbClr val="151515"/>
                          </a:solidFill>
                          <a:latin typeface="Helvetica Neue"/>
                          <a:ea typeface="Helvetica Neue"/>
                          <a:cs typeface="Helvetica Neue"/>
                        </a:rPr>
                        <a:t>Passed</a:t>
                      </a:r>
                    </a:p>
                  </a:txBody>
                  <a:tcPr marL="91440" marR="91440" marT="45720" marB="45720">
                    <a:solidFill>
                      <a:srgbClr val="F3F3F3"/>
                    </a:solidFill>
                  </a:tcPr>
                </a:tc>
              </a:tr>
              <a:tr h="555625">
                <a:tc>
                  <a:txBody>
                    <a:bodyPr/>
                    <a:lstStyle/>
                    <a:p>
                      <a:r>
                        <a:rPr sz="1725" b="0">
                          <a:solidFill>
                            <a:srgbClr val="151515"/>
                          </a:solidFill>
                          <a:latin typeface="Helvetica Neue"/>
                          <a:ea typeface="Helvetica Neue"/>
                          <a:cs typeface="Helvetica Neue"/>
                        </a:rPr>
                        <a:t>Independent servers</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QEMU 720 × 400 and TigerVNC 73 × 69</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Both updates match</a:t>
                      </a:r>
                    </a:p>
                  </a:txBody>
                  <a:tcPr marL="91440" marR="91440" marT="45720" marB="45720">
                    <a:solidFill>
                      <a:srgbClr val="FFFFFF"/>
                    </a:solidFill>
                  </a:tcPr>
                </a:tc>
              </a:tr>
              <a:tr h="555625">
                <a:tc>
                  <a:txBody>
                    <a:bodyPr/>
                    <a:lstStyle/>
                    <a:p>
                      <a:r>
                        <a:rPr sz="1725" b="0">
                          <a:solidFill>
                            <a:srgbClr val="151515"/>
                          </a:solidFill>
                          <a:latin typeface="Helvetica Neue"/>
                          <a:ea typeface="Helvetica Neue"/>
                          <a:cs typeface="Helvetica Neue"/>
                        </a:rPr>
                        <a:t>Native X11 under Xvfb</a:t>
                      </a:r>
                    </a:p>
                  </a:txBody>
                  <a:tcPr marL="91440" marR="91440" marT="45720" marB="45720">
                    <a:solidFill>
                      <a:srgbClr val="F3F3F3"/>
                    </a:solidFill>
                  </a:tcPr>
                </a:tc>
                <a:tc>
                  <a:txBody>
                    <a:bodyPr/>
                    <a:lstStyle/>
                    <a:p>
                      <a:r>
                        <a:rPr sz="1725" b="0">
                          <a:solidFill>
                            <a:srgbClr val="151515"/>
                          </a:solidFill>
                          <a:latin typeface="Helvetica Neue"/>
                          <a:ea typeface="Helvetica Neue"/>
                          <a:cs typeface="Helvetica Neue"/>
                        </a:rPr>
                        <a:t>Real QEMU handshake and window blits</a:t>
                      </a:r>
                    </a:p>
                  </a:txBody>
                  <a:tcPr marL="91440" marR="91440" marT="45720" marB="45720">
                    <a:solidFill>
                      <a:srgbClr val="F3F3F3"/>
                    </a:solidFill>
                  </a:tcPr>
                </a:tc>
                <a:tc>
                  <a:txBody>
                    <a:bodyPr/>
                    <a:lstStyle/>
                    <a:p>
                      <a:r>
                        <a:rPr sz="1725" b="0">
                          <a:solidFill>
                            <a:srgbClr val="151515"/>
                          </a:solidFill>
                          <a:latin typeface="Helvetica Neue"/>
                          <a:ea typeface="Helvetica Neue"/>
                          <a:cs typeface="Helvetica Neue"/>
                        </a:rPr>
                        <a:t>3 blits passed</a:t>
                      </a:r>
                    </a:p>
                  </a:txBody>
                  <a:tcPr marL="91440" marR="91440" marT="45720" marB="45720">
                    <a:solidFill>
                      <a:srgbClr val="F3F3F3"/>
                    </a:solidFill>
                  </a:tcPr>
                </a:tc>
              </a:tr>
              <a:tr h="555625">
                <a:tc>
                  <a:txBody>
                    <a:bodyPr/>
                    <a:lstStyle/>
                    <a:p>
                      <a:r>
                        <a:rPr sz="1725" b="0">
                          <a:solidFill>
                            <a:srgbClr val="151515"/>
                          </a:solidFill>
                          <a:latin typeface="Helvetica Neue"/>
                          <a:ea typeface="Helvetica Neue"/>
                          <a:cs typeface="Helvetica Neue"/>
                        </a:rPr>
                        <a:t>Sanitizer fuzzing</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Framing and mutated compressed tile payloads</a:t>
                      </a:r>
                    </a:p>
                  </a:txBody>
                  <a:tcPr marL="91440" marR="91440" marT="45720" marB="45720">
                    <a:solidFill>
                      <a:srgbClr val="FFFFFF"/>
                    </a:solidFill>
                  </a:tcPr>
                </a:tc>
                <a:tc>
                  <a:txBody>
                    <a:bodyPr/>
                    <a:lstStyle/>
                    <a:p>
                      <a:r>
                        <a:rPr sz="1725" b="0">
                          <a:solidFill>
                            <a:srgbClr val="151515"/>
                          </a:solidFill>
                          <a:latin typeface="Helvetica Neue"/>
                          <a:ea typeface="Helvetica Neue"/>
                          <a:cs typeface="Helvetica Neue"/>
                        </a:rPr>
                        <a:t>5.19 M executions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35EEAE3-629D-464A-B2DE-7010604C7689}"/>
              </a:ext>
            </a:extLst>
          </p:cNvPr>
          <p:cNvSpPr>
            <a:spLocks xmlns:a="http://schemas.openxmlformats.org/drawingml/2006/main" noGrp="1"/>
          </p:cNvSpPr>
          <p:nvPr/>
        </p:nvSpPr>
        <p:spPr>
          <a:xfrm xmlns:a="http://schemas.openxmlformats.org/drawingml/2006/main">
            <a:off x="609600" y="59436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5555"/>
                </a:solidFill>
                <a:latin typeface="Helvetica Neue"/>
                <a:ea typeface="Helvetica Neue"/>
                <a:cs typeface="Helvetica Neue"/>
              </a:defRPr>
            </a:pPr>
            <a:r>
              <a:rPr sz="1575" b="0">
                <a:solidFill>
                  <a:srgbClr val="555555"/>
                </a:solidFill>
                <a:latin typeface="Helvetica Neue"/>
                <a:ea typeface="Helvetica Neue"/>
                <a:cs typeface="Helvetica Neue"/>
              </a:rPr>
              <a:t>Fuzz total spans three short runs. No crash was observed, which does not prove safety.</a:t>
            </a:r>
          </a:p>
        </p:txBody>
      </p:sp>
    </p:spTree>
    <p:extLst>
      <p:ext uri="{BB962C8B-B14F-4D97-AF65-F5344CB8AC3E}">
        <p14:creationId xmlns:p14="http://schemas.microsoft.com/office/powerpoint/2010/main" val="12593159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949522-9144-49ED-A0C9-D6F6885580D6}"/>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8D3BAD85-F150-4FC9-9499-DD956DE942E5}"/>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First result: WASM needed optimization</a:t>
            </a:r>
          </a:p>
        </p:txBody>
      </p:sp>
      <p:sp>
        <p:nvSpPr>
          <p:cNvPr id="3" name="">
            <a:extLst xmlns:a="http://schemas.openxmlformats.org/drawingml/2006/main">
              <a:ext uri="{FF2B5EF4-FFF2-40B4-BE49-F238E27FC236}">
                <a16:creationId xmlns:a16="http://schemas.microsoft.com/office/drawing/2014/main" id="{574838EE-6B65-43AA-8B24-94D235E7F8D4}"/>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Initial single round, ms/frame. QEMU 720 × 400 static firmware.</a:t>
            </a:r>
          </a:p>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Node timings exclude paint and network. Native Rust is a separate runtime.</a:t>
            </a:r>
          </a:p>
        </p:txBody>
      </p:sp>
      <p:sp>
        <p:nvSpPr>
          <p:cNvPr id="4" name="">
            <a:extLst xmlns:a="http://schemas.openxmlformats.org/drawingml/2006/main">
              <a:ext uri="{FF2B5EF4-FFF2-40B4-BE49-F238E27FC236}">
                <a16:creationId xmlns:a16="http://schemas.microsoft.com/office/drawing/2014/main" id="{D4966FEC-E893-4C22-A1A9-82754818F4E5}"/>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8806DA1D-D950-4E81-8D68-55B0D0974FF9}"/>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12</a:t>
            </a:r>
          </a:p>
        </p:txBody>
      </p:sp>
      <p:graphicFrame>
        <p:nvGraphicFramePr>
          <p:cNvPr id="13" name="Chart"/>
          <p:cNvGraphicFramePr/>
          <p:nvPr/>
        </p:nvGraphicFramePr>
        <p:xfrm>
          <a:off xmlns:a="http://schemas.openxmlformats.org/drawingml/2006/main" x="762000" y="2381250"/>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c74638316f0d4ed6"/>
          </a:graphicData>
        </a:graphic>
      </p:graphicFrame>
      <p:sp>
        <p:nvSpPr>
          <p:cNvPr id="7" name="">
            <a:extLst xmlns:a="http://schemas.openxmlformats.org/drawingml/2006/main">
              <a:ext uri="{FF2B5EF4-FFF2-40B4-BE49-F238E27FC236}">
                <a16:creationId xmlns:a16="http://schemas.microsoft.com/office/drawing/2014/main" id="{2C56DAF6-81DB-4A4C-8747-33E6B780C673}"/>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E0000"/>
                </a:solidFill>
                <a:latin typeface="Helvetica Neue"/>
                <a:ea typeface="Helvetica Neue"/>
                <a:cs typeface="Helvetica Neue"/>
              </a:defRPr>
            </a:pPr>
            <a:r>
              <a:rPr sz="2025" b="1">
                <a:solidFill>
                  <a:srgbClr val="EE0000"/>
                </a:solidFill>
                <a:latin typeface="Helvetica Neue"/>
                <a:ea typeface="Helvetica Neue"/>
                <a:cs typeface="Helvetica Neue"/>
              </a:rPr>
              <a:t>WASM was about 39% slower than noVNC on this initial static workload.</a:t>
            </a:r>
          </a:p>
        </p:txBody>
      </p:sp>
    </p:spTree>
    <p:extLst>
      <p:ext uri="{BB962C8B-B14F-4D97-AF65-F5344CB8AC3E}">
        <p14:creationId xmlns:p14="http://schemas.microsoft.com/office/powerpoint/2010/main" val="4864578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28B685-3FFE-48F1-BFCD-61DA0D9962F3}"/>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77E8AD4B-36AF-4654-A912-E833AD5A1300}"/>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Profiling exposed avoidable memory work</a:t>
            </a:r>
          </a:p>
        </p:txBody>
      </p:sp>
      <p:sp>
        <p:nvSpPr>
          <p:cNvPr id="3" name="">
            <a:extLst xmlns:a="http://schemas.openxmlformats.org/drawingml/2006/main">
              <a:ext uri="{FF2B5EF4-FFF2-40B4-BE49-F238E27FC236}">
                <a16:creationId xmlns:a16="http://schemas.microsoft.com/office/drawing/2014/main" id="{BFCA659E-B883-414D-BB2B-5461592D243A}"/>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Native samples guided the investigation. Repeated WASM measurements judged the fix.</a:t>
            </a:r>
          </a:p>
        </p:txBody>
      </p:sp>
      <p:sp>
        <p:nvSpPr>
          <p:cNvPr id="4" name="">
            <a:extLst xmlns:a="http://schemas.openxmlformats.org/drawingml/2006/main">
              <a:ext uri="{FF2B5EF4-FFF2-40B4-BE49-F238E27FC236}">
                <a16:creationId xmlns:a16="http://schemas.microsoft.com/office/drawing/2014/main" id="{E69E3229-96AD-4D8F-A18C-2BBFA3096664}"/>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BFC54CBD-C7CB-462B-A20B-8060744EC75A}"/>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13</a:t>
            </a:r>
          </a:p>
        </p:txBody>
      </p:sp>
      <p:graphicFrame>
        <p:nvGraphicFramePr>
          <p:cNvPr id="13" name=""/>
          <p:cNvGraphicFramePr/>
          <p:nvPr/>
        </p:nvGraphicFramePr>
        <p:xfrm>
          <a:off xmlns:a="http://schemas.openxmlformats.org/drawingml/2006/main" x="609600" y="2381250"/>
          <a:ext xmlns:a="http://schemas.openxmlformats.org/drawingml/2006/main" cx="10972800" cy="3286125"/>
        </p:xfrm>
        <a:graphic xmlns:a="http://schemas.openxmlformats.org/drawingml/2006/main">
          <a:graphicData uri="http://schemas.openxmlformats.org/drawingml/2006/table">
            <a:tbl>
              <a:tblPr/>
              <a:tblGrid>
                <a:gridCol w="3228975"/>
                <a:gridCol w="4905375"/>
                <a:gridCol w="2838450"/>
              </a:tblGrid>
              <a:tr h="821531">
                <a:tc>
                  <a:txBody>
                    <a:bodyPr/>
                    <a:lstStyle/>
                    <a:p>
                      <a:r>
                        <a:rPr sz="1875" b="1">
                          <a:solidFill>
                            <a:srgbClr val="FFFFFF"/>
                          </a:solidFill>
                          <a:latin typeface="Helvetica Neue"/>
                          <a:ea typeface="Helvetica Neue"/>
                          <a:cs typeface="Helvetica Neue"/>
                        </a:rPr>
                        <a:t>Observed cost</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Optimization</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Correctness constraint</a:t>
                      </a:r>
                    </a:p>
                  </a:txBody>
                  <a:tcPr marL="91440" marR="91440" marT="45720" marB="45720">
                    <a:solidFill>
                      <a:srgbClr val="151515"/>
                    </a:solidFill>
                  </a:tcPr>
                </a:tc>
              </a:tr>
              <a:tr h="821531">
                <a:tc>
                  <a:txBody>
                    <a:bodyPr/>
                    <a:lstStyle/>
                    <a:p>
                      <a:r>
                        <a:rPr sz="1875" b="0">
                          <a:solidFill>
                            <a:srgbClr val="151515"/>
                          </a:solidFill>
                          <a:latin typeface="Helvetica Neue"/>
                          <a:ea typeface="Helvetica Neue"/>
                          <a:cs typeface="Helvetica Neue"/>
                        </a:rPr>
                        <a:t>Per-tile allocation and vector growth</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Reuse 64 × 64 tile scratch and a 127-colour palette.</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Bounded scratch memory</a:t>
                      </a:r>
                    </a:p>
                  </a:txBody>
                  <a:tcPr marL="91440" marR="91440" marT="45720" marB="45720">
                    <a:solidFill>
                      <a:srgbClr val="FFFFFF"/>
                    </a:solidFill>
                  </a:tcPr>
                </a:tc>
              </a:tr>
              <a:tr h="821531">
                <a:tc>
                  <a:txBody>
                    <a:bodyPr/>
                    <a:lstStyle/>
                    <a:p>
                      <a:r>
                        <a:rPr sz="1875" b="0">
                          <a:solidFill>
                            <a:srgbClr val="151515"/>
                          </a:solidFill>
                          <a:latin typeface="Helvetica Neue"/>
                          <a:ea typeface="Helvetica Neue"/>
                          <a:cs typeface="Helvetica Neue"/>
                        </a:rPr>
                        <a:t>Redundant full-rectangle initialization</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Allocate zeroed output, then overwrite all decoded pixels.</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No partial successful rectangle</a:t>
                      </a:r>
                    </a:p>
                  </a:txBody>
                  <a:tcPr marL="91440" marR="91440" marT="45720" marB="45720">
                    <a:solidFill>
                      <a:srgbClr val="F3F3F3"/>
                    </a:solidFill>
                  </a:tcPr>
                </a:tc>
              </a:tr>
              <a:tr h="821531">
                <a:tc>
                  <a:txBody>
                    <a:bodyPr/>
                    <a:lstStyle/>
                    <a:p>
                      <a:r>
                        <a:rPr sz="1875" b="0">
                          <a:solidFill>
                            <a:srgbClr val="151515"/>
                          </a:solidFill>
                          <a:latin typeface="Helvetica Neue"/>
                          <a:ea typeface="Helvetica Neue"/>
                          <a:cs typeface="Helvetica Neue"/>
                        </a:rPr>
                        <a:t>Per-pixel framebuffer indexing and copies</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Bulk-copy each row, then normalize alpha.</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Stable framebuffer allocation</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FC485B9-FDED-4E60-B235-862D677381D5}"/>
              </a:ext>
            </a:extLst>
          </p:cNvPr>
          <p:cNvSpPr>
            <a:spLocks xmlns:a="http://schemas.openxmlformats.org/drawingml/2006/main" noGrp="1"/>
          </p:cNvSpPr>
          <p:nvPr/>
        </p:nvSpPr>
        <p:spPr>
          <a:xfrm xmlns:a="http://schemas.openxmlformats.org/drawingml/2006/main">
            <a:off x="609600" y="5829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E0000"/>
                </a:solidFill>
                <a:latin typeface="Helvetica Neue"/>
                <a:ea typeface="Helvetica Neue"/>
                <a:cs typeface="Helvetica Neue"/>
              </a:defRPr>
            </a:pPr>
            <a:r>
              <a:rPr sz="1950" b="1">
                <a:solidFill>
                  <a:srgbClr val="EE0000"/>
                </a:solidFill>
                <a:latin typeface="Helvetica Neue"/>
                <a:ea typeface="Helvetica Neue"/>
                <a:cs typeface="Helvetica Neue"/>
              </a:rPr>
              <a:t>No unsafe code, SIMD requirement, relaxed bounds or build-profile change.</a:t>
            </a:r>
          </a:p>
        </p:txBody>
      </p:sp>
    </p:spTree>
    <p:extLst>
      <p:ext uri="{BB962C8B-B14F-4D97-AF65-F5344CB8AC3E}">
        <p14:creationId xmlns:p14="http://schemas.microsoft.com/office/powerpoint/2010/main" val="1301326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859217-C4AF-48B4-BB9C-4F541CFFC5FB}"/>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BD0FBFAA-7254-4652-A7AC-624FC63F003B}"/>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Repeated result: 72.6% less WASM time</a:t>
            </a:r>
          </a:p>
        </p:txBody>
      </p:sp>
      <p:sp>
        <p:nvSpPr>
          <p:cNvPr id="3" name="">
            <a:extLst xmlns:a="http://schemas.openxmlformats.org/drawingml/2006/main">
              <a:ext uri="{FF2B5EF4-FFF2-40B4-BE49-F238E27FC236}">
                <a16:creationId xmlns:a16="http://schemas.microsoft.com/office/drawing/2014/main" id="{E5038C61-7A1E-4F9F-AB20-B3082B41F27C}"/>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Median total ms/frame, five rounds of 400 frames after 20 warmup sessions.</a:t>
            </a:r>
          </a:p>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Same QEMU 720 × 400 fixture and Linux VM. Paint and network excluded.</a:t>
            </a:r>
          </a:p>
        </p:txBody>
      </p:sp>
      <p:sp>
        <p:nvSpPr>
          <p:cNvPr id="4" name="">
            <a:extLst xmlns:a="http://schemas.openxmlformats.org/drawingml/2006/main">
              <a:ext uri="{FF2B5EF4-FFF2-40B4-BE49-F238E27FC236}">
                <a16:creationId xmlns:a16="http://schemas.microsoft.com/office/drawing/2014/main" id="{3D06AF5F-55A8-454E-8683-FF8F5F0C6D52}"/>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8527CC3E-1DB4-481E-916D-43EB087EB35C}"/>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14</a:t>
            </a:r>
          </a:p>
        </p:txBody>
      </p:sp>
      <p:graphicFrame>
        <p:nvGraphicFramePr>
          <p:cNvPr id="13" name="Chart"/>
          <p:cNvGraphicFramePr/>
          <p:nvPr/>
        </p:nvGraphicFramePr>
        <p:xfrm>
          <a:off xmlns:a="http://schemas.openxmlformats.org/drawingml/2006/main" x="762000" y="2381250"/>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0b0dec7a4ba64ec3"/>
          </a:graphicData>
        </a:graphic>
      </p:graphicFrame>
      <p:sp>
        <p:nvSpPr>
          <p:cNvPr id="7" name="">
            <a:extLst xmlns:a="http://schemas.openxmlformats.org/drawingml/2006/main">
              <a:ext uri="{FF2B5EF4-FFF2-40B4-BE49-F238E27FC236}">
                <a16:creationId xmlns:a16="http://schemas.microsoft.com/office/drawing/2014/main" id="{BF65121D-D99B-40FF-A17B-3133F8565DD1}"/>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E0000"/>
                </a:solidFill>
                <a:latin typeface="Helvetica Neue"/>
                <a:ea typeface="Helvetica Neue"/>
                <a:cs typeface="Helvetica Neue"/>
              </a:defRPr>
            </a:pPr>
            <a:r>
              <a:rPr sz="2100" b="1">
                <a:solidFill>
                  <a:srgbClr val="EE0000"/>
                </a:solidFill>
                <a:latin typeface="Helvetica Neue"/>
                <a:ea typeface="Helvetica Neue"/>
                <a:cs typeface="Helvetica Neue"/>
              </a:rPr>
              <a:t>3.7× baseline throughput  /  2.7× noVNC throughput on this fixture</a:t>
            </a:r>
          </a:p>
        </p:txBody>
      </p:sp>
    </p:spTree>
    <p:extLst>
      <p:ext uri="{BB962C8B-B14F-4D97-AF65-F5344CB8AC3E}">
        <p14:creationId xmlns:p14="http://schemas.microsoft.com/office/powerpoint/2010/main" val="1956582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406975-A45B-4CD6-84FA-7A552834D631}"/>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555555"/>
                </a:solidFill>
                <a:latin typeface="Helvetica Neue"/>
                <a:ea typeface="Helvetica Neue"/>
                <a:cs typeface="Helvetica Neue"/>
              </a:defRPr>
            </a:pPr>
            <a:r>
              <a:rPr sz="1200" b="1">
                <a:solidFill>
                  <a:srgbClr val="555555"/>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9BA8A0F4-E05A-4E4F-A4C5-08BC765B871A}"/>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1515"/>
                </a:solidFill>
                <a:latin typeface="Helvetica Neue"/>
                <a:ea typeface="Helvetica Neue"/>
                <a:cs typeface="Helvetica Neue"/>
              </a:defRPr>
            </a:pPr>
            <a:r>
              <a:rPr sz="3300" b="1">
                <a:solidFill>
                  <a:srgbClr val="151515"/>
                </a:solidFill>
                <a:latin typeface="Helvetica Neue"/>
                <a:ea typeface="Helvetica Neue"/>
                <a:cs typeface="Helvetica Neue"/>
              </a:rPr>
              <a:t>Size decreased and the second fixture stayed correct</a:t>
            </a:r>
          </a:p>
        </p:txBody>
      </p:sp>
      <p:sp>
        <p:nvSpPr>
          <p:cNvPr id="3" name="">
            <a:extLst xmlns:a="http://schemas.openxmlformats.org/drawingml/2006/main">
              <a:ext uri="{FF2B5EF4-FFF2-40B4-BE49-F238E27FC236}">
                <a16:creationId xmlns:a16="http://schemas.microsoft.com/office/drawing/2014/main" id="{68D7CD56-8812-4ACC-B37A-B2FD67BA169C}"/>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5555"/>
                </a:solidFill>
                <a:latin typeface="Helvetica Neue"/>
                <a:ea typeface="Helvetica Neue"/>
                <a:cs typeface="Helvetica Neue"/>
              </a:defRPr>
            </a:pPr>
            <a:r>
              <a:rPr sz="1875" b="0">
                <a:solidFill>
                  <a:srgbClr val="555555"/>
                </a:solidFill>
                <a:latin typeface="Helvetica Neue"/>
                <a:ea typeface="Helvetica Neue"/>
                <a:cs typeface="Helvetica Neue"/>
              </a:rPr>
              <a:t>Same release settings, with no change to JS wrapper or generated glue.</a:t>
            </a:r>
          </a:p>
        </p:txBody>
      </p:sp>
      <p:sp>
        <p:nvSpPr>
          <p:cNvPr id="4" name="">
            <a:extLst xmlns:a="http://schemas.openxmlformats.org/drawingml/2006/main">
              <a:ext uri="{FF2B5EF4-FFF2-40B4-BE49-F238E27FC236}">
                <a16:creationId xmlns:a16="http://schemas.microsoft.com/office/drawing/2014/main" id="{137F9705-642B-4BA6-B3DB-402BC48057CF}"/>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55555"/>
                </a:solidFill>
                <a:latin typeface="Helvetica Neue"/>
                <a:ea typeface="Helvetica Neue"/>
                <a:cs typeface="Helvetica Neue"/>
              </a:defRPr>
            </a:pPr>
            <a:r>
              <a:rPr sz="1125" b="0">
                <a:solidFill>
                  <a:srgbClr val="555555"/>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3FAC563A-C6D6-498F-B7CB-E7B5A432FFF1}"/>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15</a:t>
            </a:r>
          </a:p>
        </p:txBody>
      </p:sp>
      <p:graphicFrame>
        <p:nvGraphicFramePr>
          <p:cNvPr id="13" name=""/>
          <p:cNvGraphicFramePr/>
          <p:nvPr/>
        </p:nvGraphicFramePr>
        <p:xfrm>
          <a:off xmlns:a="http://schemas.openxmlformats.org/drawingml/2006/main" x="609600" y="2333625"/>
          <a:ext xmlns:a="http://schemas.openxmlformats.org/drawingml/2006/main" cx="10972800" cy="2952750"/>
        </p:xfrm>
        <a:graphic xmlns:a="http://schemas.openxmlformats.org/drawingml/2006/main">
          <a:graphicData uri="http://schemas.openxmlformats.org/drawingml/2006/table">
            <a:tbl>
              <a:tblPr/>
              <a:tblGrid>
                <a:gridCol w="5334000"/>
                <a:gridCol w="2819400"/>
                <a:gridCol w="2819400"/>
              </a:tblGrid>
              <a:tr h="590550">
                <a:tc>
                  <a:txBody>
                    <a:bodyPr/>
                    <a:lstStyle/>
                    <a:p>
                      <a:r>
                        <a:rPr sz="1875" b="1">
                          <a:solidFill>
                            <a:srgbClr val="FFFFFF"/>
                          </a:solidFill>
                          <a:latin typeface="Helvetica Neue"/>
                          <a:ea typeface="Helvetica Neue"/>
                          <a:cs typeface="Helvetica Neue"/>
                        </a:rPr>
                        <a:t>Package bytes</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Baseline</a:t>
                      </a:r>
                    </a:p>
                  </a:txBody>
                  <a:tcPr marL="91440" marR="91440" marT="45720" marB="45720">
                    <a:solidFill>
                      <a:srgbClr val="151515"/>
                    </a:solidFill>
                  </a:tcPr>
                </a:tc>
                <a:tc>
                  <a:txBody>
                    <a:bodyPr/>
                    <a:lstStyle/>
                    <a:p>
                      <a:r>
                        <a:rPr sz="1875" b="1">
                          <a:solidFill>
                            <a:srgbClr val="FFFFFF"/>
                          </a:solidFill>
                          <a:latin typeface="Helvetica Neue"/>
                          <a:ea typeface="Helvetica Neue"/>
                          <a:cs typeface="Helvetica Neue"/>
                        </a:rPr>
                        <a:t>Optimized</a:t>
                      </a:r>
                    </a:p>
                  </a:txBody>
                  <a:tcPr marL="91440" marR="91440" marT="45720" marB="45720">
                    <a:solidFill>
                      <a:srgbClr val="151515"/>
                    </a:solidFill>
                  </a:tcPr>
                </a:tc>
              </a:tr>
              <a:tr h="590550">
                <a:tc>
                  <a:txBody>
                    <a:bodyPr/>
                    <a:lstStyle/>
                    <a:p>
                      <a:r>
                        <a:rPr sz="1875" b="0">
                          <a:solidFill>
                            <a:srgbClr val="151515"/>
                          </a:solidFill>
                          <a:latin typeface="Helvetica Neue"/>
                          <a:ea typeface="Helvetica Neue"/>
                          <a:cs typeface="Helvetica Neue"/>
                        </a:rPr>
                        <a:t>WASM</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89,559</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88,564</a:t>
                      </a:r>
                    </a:p>
                  </a:txBody>
                  <a:tcPr marL="91440" marR="91440" marT="45720" marB="45720">
                    <a:solidFill>
                      <a:srgbClr val="FFFFFF"/>
                    </a:solidFill>
                  </a:tcPr>
                </a:tc>
              </a:tr>
              <a:tr h="590550">
                <a:tc>
                  <a:txBody>
                    <a:bodyPr/>
                    <a:lstStyle/>
                    <a:p>
                      <a:r>
                        <a:rPr sz="1875" b="0">
                          <a:solidFill>
                            <a:srgbClr val="151515"/>
                          </a:solidFill>
                          <a:latin typeface="Helvetica Neue"/>
                          <a:ea typeface="Helvetica Neue"/>
                          <a:cs typeface="Helvetica Neue"/>
                        </a:rPr>
                        <a:t>JS wrapper and glue</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18,234</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18,234</a:t>
                      </a:r>
                    </a:p>
                  </a:txBody>
                  <a:tcPr marL="91440" marR="91440" marT="45720" marB="45720">
                    <a:solidFill>
                      <a:srgbClr val="F3F3F3"/>
                    </a:solidFill>
                  </a:tcPr>
                </a:tc>
              </a:tr>
              <a:tr h="590550">
                <a:tc>
                  <a:txBody>
                    <a:bodyPr/>
                    <a:lstStyle/>
                    <a:p>
                      <a:r>
                        <a:rPr sz="1875" b="0">
                          <a:solidFill>
                            <a:srgbClr val="151515"/>
                          </a:solidFill>
                          <a:latin typeface="Helvetica Neue"/>
                          <a:ea typeface="Helvetica Neue"/>
                          <a:cs typeface="Helvetica Neue"/>
                        </a:rPr>
                        <a:t>Uncompressed total</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107,793</a:t>
                      </a:r>
                    </a:p>
                  </a:txBody>
                  <a:tcPr marL="91440" marR="91440" marT="45720" marB="45720">
                    <a:solidFill>
                      <a:srgbClr val="FFFFFF"/>
                    </a:solidFill>
                  </a:tcPr>
                </a:tc>
                <a:tc>
                  <a:txBody>
                    <a:bodyPr/>
                    <a:lstStyle/>
                    <a:p>
                      <a:r>
                        <a:rPr sz="1875" b="0">
                          <a:solidFill>
                            <a:srgbClr val="151515"/>
                          </a:solidFill>
                          <a:latin typeface="Helvetica Neue"/>
                          <a:ea typeface="Helvetica Neue"/>
                          <a:cs typeface="Helvetica Neue"/>
                        </a:rPr>
                        <a:t>106,798</a:t>
                      </a:r>
                    </a:p>
                  </a:txBody>
                  <a:tcPr marL="91440" marR="91440" marT="45720" marB="45720">
                    <a:solidFill>
                      <a:srgbClr val="FFFFFF"/>
                    </a:solidFill>
                  </a:tcPr>
                </a:tc>
              </a:tr>
              <a:tr h="590550">
                <a:tc>
                  <a:txBody>
                    <a:bodyPr/>
                    <a:lstStyle/>
                    <a:p>
                      <a:r>
                        <a:rPr sz="1875" b="0">
                          <a:solidFill>
                            <a:srgbClr val="151515"/>
                          </a:solidFill>
                          <a:latin typeface="Helvetica Neue"/>
                          <a:ea typeface="Helvetica Neue"/>
                          <a:cs typeface="Helvetica Neue"/>
                        </a:rPr>
                        <a:t>Individually gzipped total</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44,878</a:t>
                      </a:r>
                    </a:p>
                  </a:txBody>
                  <a:tcPr marL="91440" marR="91440" marT="45720" marB="45720">
                    <a:solidFill>
                      <a:srgbClr val="F3F3F3"/>
                    </a:solidFill>
                  </a:tcPr>
                </a:tc>
                <a:tc>
                  <a:txBody>
                    <a:bodyPr/>
                    <a:lstStyle/>
                    <a:p>
                      <a:r>
                        <a:rPr sz="1875" b="0">
                          <a:solidFill>
                            <a:srgbClr val="151515"/>
                          </a:solidFill>
                          <a:latin typeface="Helvetica Neue"/>
                          <a:ea typeface="Helvetica Neue"/>
                          <a:cs typeface="Helvetica Neue"/>
                        </a:rPr>
                        <a:t>44,718</a:t>
                      </a:r>
                    </a:p>
                  </a:txBody>
                  <a:tcPr marL="91440" marR="91440" marT="45720" marB="45720">
                    <a:solidFill>
                      <a:srgbClr val="F3F3F3"/>
                    </a:solidFill>
                  </a:tcPr>
                </a:tc>
              </a:tr>
            </a:tbl>
          </a:graphicData>
        </a:graphic>
      </p:graphicFrame>
      <p:sp>
        <p:nvSpPr>
          <p:cNvPr id="7" name="">
            <a:extLst xmlns:a="http://schemas.openxmlformats.org/drawingml/2006/main">
              <a:ext uri="{FF2B5EF4-FFF2-40B4-BE49-F238E27FC236}">
                <a16:creationId xmlns:a16="http://schemas.microsoft.com/office/drawing/2014/main" id="{15347538-DEBF-458E-866E-012ED1E7ADEB}"/>
              </a:ext>
            </a:extLst>
          </p:cNvPr>
          <p:cNvSpPr>
            <a:spLocks xmlns:a="http://schemas.openxmlformats.org/drawingml/2006/main" noGrp="1"/>
          </p:cNvSpPr>
          <p:nvPr/>
        </p:nvSpPr>
        <p:spPr>
          <a:xfrm xmlns:a="http://schemas.openxmlformats.org/drawingml/2006/main">
            <a:off x="609600" y="5629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E0000"/>
                </a:solidFill>
                <a:latin typeface="Helvetica Neue"/>
                <a:ea typeface="Helvetica Neue"/>
                <a:cs typeface="Helvetica Neue"/>
              </a:defRPr>
            </a:pPr>
            <a:r>
              <a:rPr sz="1950" b="1">
                <a:solidFill>
                  <a:srgbClr val="EE0000"/>
                </a:solidFill>
                <a:latin typeface="Helvetica Neue"/>
                <a:ea typeface="Helvetica Neue"/>
                <a:cs typeface="Helvetica Neue"/>
              </a:rPr>
              <a:t>TigerVNC striped fixture: 0.0187 ms/frame, with independent pixel match.</a:t>
            </a:r>
          </a:p>
        </p:txBody>
      </p:sp>
    </p:spTree>
    <p:extLst>
      <p:ext uri="{BB962C8B-B14F-4D97-AF65-F5344CB8AC3E}">
        <p14:creationId xmlns:p14="http://schemas.microsoft.com/office/powerpoint/2010/main" val="761205826"/>
      </p:ext>
    </p:extLst>
  </p:cSld>
</p:sld>
</file>

<file path=ppt/slides/slide16.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F458AF-B073-4817-94A7-47A32F990168}"/>
              </a:ext>
            </a:extLst>
          </p:cNvPr>
          <p:cNvSpPr>
            <a:spLocks xmlns:a="http://schemas.openxmlformats.org/drawingml/2006/main" noGrp="1"/>
          </p:cNvSpPr>
          <p:nvPr/>
        </p:nvSpPr>
        <p:spPr>
          <a:xfrm xmlns:a="http://schemas.openxmlformats.org/drawingml/2006/main">
            <a:off x="609600" y="238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BBBBB"/>
                </a:solidFill>
                <a:latin typeface="Helvetica Neue"/>
                <a:ea typeface="Helvetica Neue"/>
                <a:cs typeface="Helvetica Neue"/>
              </a:defRPr>
            </a:pPr>
            <a:r>
              <a:rPr sz="1200" b="1">
                <a:solidFill>
                  <a:srgbClr val="BBBBBB"/>
                </a:solidFill>
                <a:latin typeface="Helvetica Neue"/>
                <a:ea typeface="Helvetica Neue"/>
                <a:cs typeface="Helvetica Neue"/>
              </a:rPr>
              <a:t>STORMRFB  /  PROJECT REVIEW</a:t>
            </a:r>
          </a:p>
        </p:txBody>
      </p:sp>
      <p:sp>
        <p:nvSpPr>
          <p:cNvPr id="2" name="">
            <a:extLst xmlns:a="http://schemas.openxmlformats.org/drawingml/2006/main">
              <a:ext uri="{FF2B5EF4-FFF2-40B4-BE49-F238E27FC236}">
                <a16:creationId xmlns:a16="http://schemas.microsoft.com/office/drawing/2014/main" id="{A5604509-1BE5-4297-A430-C555316DE77F}"/>
              </a:ext>
            </a:extLst>
          </p:cNvPr>
          <p:cNvSpPr>
            <a:spLocks xmlns:a="http://schemas.openxmlformats.org/drawingml/2006/main" noGrp="1"/>
          </p:cNvSpPr>
          <p:nvPr/>
        </p:nvSpPr>
        <p:spPr>
          <a:xfrm xmlns:a="http://schemas.openxmlformats.org/drawingml/2006/main">
            <a:off x="609600" y="7905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Real-guest integration is the next gate</a:t>
            </a:r>
          </a:p>
        </p:txBody>
      </p:sp>
      <p:sp>
        <p:nvSpPr>
          <p:cNvPr id="3" name="">
            <a:extLst xmlns:a="http://schemas.openxmlformats.org/drawingml/2006/main">
              <a:ext uri="{FF2B5EF4-FFF2-40B4-BE49-F238E27FC236}">
                <a16:creationId xmlns:a16="http://schemas.microsoft.com/office/drawing/2014/main" id="{2DE72E46-6BF6-4F4C-BBE1-E4C846982F74}"/>
              </a:ext>
            </a:extLst>
          </p:cNvPr>
          <p:cNvSpPr>
            <a:spLocks xmlns:a="http://schemas.openxmlformats.org/drawingml/2006/main" noGrp="1"/>
          </p:cNvSpPr>
          <p:nvPr/>
        </p:nvSpPr>
        <p:spPr>
          <a:xfrm xmlns:a="http://schemas.openxmlformats.org/drawingml/2006/main">
            <a:off x="609600" y="156210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DDDDD"/>
                </a:solidFill>
                <a:latin typeface="Helvetica Neue"/>
                <a:ea typeface="Helvetica Neue"/>
                <a:cs typeface="Helvetica Neue"/>
              </a:defRPr>
            </a:pPr>
            <a:r>
              <a:rPr sz="1875" b="0">
                <a:solidFill>
                  <a:srgbClr val="DDDDDD"/>
                </a:solidFill>
                <a:latin typeface="Helvetica Neue"/>
                <a:ea typeface="Helvetica Neue"/>
                <a:cs typeface="Helvetica Neue"/>
              </a:rPr>
              <a:t>The private implementation is tested. Production replacement remains pending.</a:t>
            </a:r>
          </a:p>
        </p:txBody>
      </p:sp>
      <p:sp>
        <p:nvSpPr>
          <p:cNvPr id="4" name="">
            <a:extLst xmlns:a="http://schemas.openxmlformats.org/drawingml/2006/main">
              <a:ext uri="{FF2B5EF4-FFF2-40B4-BE49-F238E27FC236}">
                <a16:creationId xmlns:a16="http://schemas.microsoft.com/office/drawing/2014/main" id="{280716E1-CEA6-4047-8DF0-A42A5A707840}"/>
              </a:ext>
            </a:extLst>
          </p:cNvPr>
          <p:cNvSpPr>
            <a:spLocks xmlns:a="http://schemas.openxmlformats.org/drawingml/2006/main" noGrp="1"/>
          </p:cNvSpPr>
          <p:nvPr/>
        </p:nvSpPr>
        <p:spPr>
          <a:xfrm xmlns:a="http://schemas.openxmlformats.org/drawingml/2006/main">
            <a:off x="609600" y="639127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BBBBB"/>
                </a:solidFill>
                <a:latin typeface="Helvetica Neue"/>
                <a:ea typeface="Helvetica Neue"/>
                <a:cs typeface="Helvetica Neue"/>
              </a:defRPr>
            </a:pPr>
            <a:r>
              <a:rPr sz="1125" b="0">
                <a:solidFill>
                  <a:srgbClr val="BBBBBB"/>
                </a:solidFill>
                <a:latin typeface="Helvetica Neue"/>
                <a:ea typeface="Helvetica Neue"/>
                <a:cs typeface="Helvetica Neue"/>
              </a:rPr>
              <a:t>PRIVATE  ·  9 SEPTEMBER 2026</a:t>
            </a:r>
          </a:p>
        </p:txBody>
      </p:sp>
      <p:sp>
        <p:nvSpPr>
          <p:cNvPr id="5" name="">
            <a:extLst xmlns:a="http://schemas.openxmlformats.org/drawingml/2006/main">
              <a:ext uri="{FF2B5EF4-FFF2-40B4-BE49-F238E27FC236}">
                <a16:creationId xmlns:a16="http://schemas.microsoft.com/office/drawing/2014/main" id="{4A19C160-B94B-4AFB-95FB-45090B8D51CA}"/>
              </a:ext>
            </a:extLst>
          </p:cNvPr>
          <p:cNvSpPr>
            <a:spLocks xmlns:a="http://schemas.openxmlformats.org/drawingml/2006/main" noGrp="1"/>
          </p:cNvSpPr>
          <p:nvPr/>
        </p:nvSpPr>
        <p:spPr>
          <a:xfrm xmlns:a="http://schemas.openxmlformats.org/drawingml/2006/main">
            <a:off x="10953750" y="6391275"/>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E0000"/>
                </a:solidFill>
                <a:latin typeface="Helvetica Neue"/>
                <a:ea typeface="Helvetica Neue"/>
                <a:cs typeface="Helvetica Neue"/>
              </a:defRPr>
            </a:pPr>
            <a:r>
              <a:rPr sz="1200" b="1">
                <a:solidFill>
                  <a:srgbClr val="EE0000"/>
                </a:solidFill>
                <a:latin typeface="Helvetica Neue"/>
                <a:ea typeface="Helvetica Neue"/>
                <a:cs typeface="Helvetica Neue"/>
              </a:rPr>
              <a:t>16</a:t>
            </a:r>
          </a:p>
        </p:txBody>
      </p:sp>
      <p:sp>
        <p:nvSpPr>
          <p:cNvPr id="6" name="">
            <a:extLst xmlns:a="http://schemas.openxmlformats.org/drawingml/2006/main">
              <a:ext uri="{FF2B5EF4-FFF2-40B4-BE49-F238E27FC236}">
                <a16:creationId xmlns:a16="http://schemas.microsoft.com/office/drawing/2014/main" id="{0AD9EE06-72A0-45E2-94C7-9AACCE4CDB8B}"/>
              </a:ext>
            </a:extLst>
          </p:cNvPr>
          <p:cNvSpPr>
            <a:spLocks xmlns:a="http://schemas.openxmlformats.org/drawingml/2006/main" noGrp="1"/>
          </p:cNvSpPr>
          <p:nvPr/>
        </p:nvSpPr>
        <p:spPr>
          <a:xfrm xmlns:a="http://schemas.openxmlformats.org/drawingml/2006/main">
            <a:off x="609600" y="2571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Windows installer and Linux guest</a:t>
            </a:r>
          </a:p>
        </p:txBody>
      </p:sp>
      <p:sp>
        <p:nvSpPr>
          <p:cNvPr id="7" name="">
            <a:extLst xmlns:a="http://schemas.openxmlformats.org/drawingml/2006/main">
              <a:ext uri="{FF2B5EF4-FFF2-40B4-BE49-F238E27FC236}">
                <a16:creationId xmlns:a16="http://schemas.microsoft.com/office/drawing/2014/main" id="{C6B036DC-C6DD-4E7E-B069-E7C2B575E527}"/>
              </a:ext>
            </a:extLst>
          </p:cNvPr>
          <p:cNvSpPr>
            <a:spLocks xmlns:a="http://schemas.openxmlformats.org/drawingml/2006/main" noGrp="1"/>
          </p:cNvSpPr>
          <p:nvPr/>
        </p:nvSpPr>
        <p:spPr>
          <a:xfrm xmlns:a="http://schemas.openxmlformats.org/drawingml/2006/main">
            <a:off x="609600" y="31337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CCCCC"/>
                </a:solidFill>
                <a:latin typeface="Helvetica Neue"/>
                <a:ea typeface="Helvetica Neue"/>
                <a:cs typeface="Helvetica Neue"/>
              </a:defRPr>
            </a:pPr>
            <a:r>
              <a:rPr sz="2100" b="0">
                <a:solidFill>
                  <a:srgbClr val="CCCCCC"/>
                </a:solidFill>
                <a:latin typeface="Helvetica Neue"/>
                <a:ea typeface="Helvetica Neue"/>
                <a:cs typeface="Helvetica Neue"/>
              </a:rPr>
              <a:t>Run through the actual stormconsole relay and browser.</a:t>
            </a:r>
          </a:p>
        </p:txBody>
      </p:sp>
      <p:sp>
        <p:nvSpPr>
          <p:cNvPr id="8" name="">
            <a:extLst xmlns:a="http://schemas.openxmlformats.org/drawingml/2006/main">
              <a:ext uri="{FF2B5EF4-FFF2-40B4-BE49-F238E27FC236}">
                <a16:creationId xmlns:a16="http://schemas.microsoft.com/office/drawing/2014/main" id="{A088424C-ABBD-401E-B9EA-6AAB9354EB9E}"/>
              </a:ext>
            </a:extLst>
          </p:cNvPr>
          <p:cNvSpPr>
            <a:spLocks xmlns:a="http://schemas.openxmlformats.org/drawingml/2006/main" noGrp="1"/>
          </p:cNvSpPr>
          <p:nvPr/>
        </p:nvSpPr>
        <p:spPr>
          <a:xfrm xmlns:a="http://schemas.openxmlformats.org/drawingml/2006/main">
            <a:off x="609600" y="41148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Production performance</a:t>
            </a:r>
          </a:p>
        </p:txBody>
      </p:sp>
      <p:sp>
        <p:nvSpPr>
          <p:cNvPr id="9" name="">
            <a:extLst xmlns:a="http://schemas.openxmlformats.org/drawingml/2006/main">
              <a:ext uri="{FF2B5EF4-FFF2-40B4-BE49-F238E27FC236}">
                <a16:creationId xmlns:a16="http://schemas.microsoft.com/office/drawing/2014/main" id="{D713B493-D099-4A08-A965-E126DD5A7069}"/>
              </a:ext>
            </a:extLst>
          </p:cNvPr>
          <p:cNvSpPr>
            <a:spLocks xmlns:a="http://schemas.openxmlformats.org/drawingml/2006/main" noGrp="1"/>
          </p:cNvSpPr>
          <p:nvPr/>
        </p:nvSpPr>
        <p:spPr>
          <a:xfrm xmlns:a="http://schemas.openxmlformats.org/drawingml/2006/main">
            <a:off x="609600" y="467677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CCCCC"/>
                </a:solidFill>
                <a:latin typeface="Helvetica Neue"/>
                <a:ea typeface="Helvetica Neue"/>
                <a:cs typeface="Helvetica Neue"/>
              </a:defRPr>
            </a:pPr>
            <a:r>
              <a:rPr sz="2100" b="0">
                <a:solidFill>
                  <a:srgbClr val="CCCCCC"/>
                </a:solidFill>
                <a:latin typeface="Helvetica Neue"/>
                <a:ea typeface="Helvetica Neue"/>
                <a:cs typeface="Helvetica Neue"/>
              </a:rPr>
              <a:t>Measure paint, network latency, shipped chunk size and moving 1080p content.</a:t>
            </a:r>
          </a:p>
        </p:txBody>
      </p:sp>
      <p:sp>
        <p:nvSpPr>
          <p:cNvPr id="10" name="">
            <a:extLst xmlns:a="http://schemas.openxmlformats.org/drawingml/2006/main">
              <a:ext uri="{FF2B5EF4-FFF2-40B4-BE49-F238E27FC236}">
                <a16:creationId xmlns:a16="http://schemas.microsoft.com/office/drawing/2014/main" id="{AC07FA6A-4A6D-431B-A938-4783F953420A}"/>
              </a:ext>
            </a:extLst>
          </p:cNvPr>
          <p:cNvSpPr>
            <a:spLocks xmlns:a="http://schemas.openxmlformats.org/drawingml/2006/main" noGrp="1"/>
          </p:cNvSpPr>
          <p:nvPr/>
        </p:nvSpPr>
        <p:spPr>
          <a:xfrm xmlns:a="http://schemas.openxmlformats.org/drawingml/2006/main">
            <a:off x="609600" y="56959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5555"/>
                </a:solidFill>
                <a:latin typeface="Helvetica Neue"/>
                <a:ea typeface="Helvetica Neue"/>
                <a:cs typeface="Helvetica Neue"/>
              </a:defRPr>
            </a:pPr>
            <a:r>
              <a:rPr sz="2250" b="1">
                <a:solidFill>
                  <a:srgbClr val="FF5555"/>
                </a:solidFill>
                <a:latin typeface="Helvetica Neue"/>
                <a:ea typeface="Helvetica Neue"/>
                <a:cs typeface="Helvetica Neue"/>
              </a:rPr>
              <a:t>Keep noVNC deployed until those gates pass.</a:t>
            </a:r>
          </a:p>
        </p:txBody>
      </p:sp>
    </p:spTree>
    <p:extLst>
      <p:ext uri="{BB962C8B-B14F-4D97-AF65-F5344CB8AC3E}">
        <p14:creationId xmlns:p14="http://schemas.microsoft.com/office/powerpoint/2010/main" val="678513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2026-09-09T18:21:25.1740000Z</dcterms:created>
  <dcterms:modified xsi:type="dcterms:W3CDTF">2026-09-09T18:21:25.1740000Z</dcterms:modified>
</coreProperties>
</file>